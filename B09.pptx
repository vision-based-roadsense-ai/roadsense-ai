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82" d="100"/>
          <a:sy n="82" d="100"/>
        </p:scale>
        <p:origin x="67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extLst>
      <p:ext uri="{BB962C8B-B14F-4D97-AF65-F5344CB8AC3E}">
        <p14:creationId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extLst>
      <p:ext uri="{BB962C8B-B14F-4D97-AF65-F5344CB8AC3E}">
        <p14:creationId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extLst>
      <p:ext uri="{BB962C8B-B14F-4D97-AF65-F5344CB8AC3E}">
        <p14:creationId xmlns:p14="http://schemas.microsoft.com/office/powerpoint/2010/main" val="15272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300405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134001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152890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368948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15476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extLst>
      <p:ext uri="{BB962C8B-B14F-4D97-AF65-F5344CB8AC3E}">
        <p14:creationId xmlns:p14="http://schemas.microsoft.com/office/powerpoint/2010/main" val="189483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extLst>
      <p:ext uri="{BB962C8B-B14F-4D97-AF65-F5344CB8AC3E}">
        <p14:creationId xmlns:p14="http://schemas.microsoft.com/office/powerpoint/2010/main" val="2311426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extLst>
      <p:ext uri="{BB962C8B-B14F-4D97-AF65-F5344CB8AC3E}">
        <p14:creationId xmlns:p14="http://schemas.microsoft.com/office/powerpoint/2010/main" val="25172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extLst>
      <p:ext uri="{BB962C8B-B14F-4D97-AF65-F5344CB8AC3E}">
        <p14:creationId xmlns:p14="http://schemas.microsoft.com/office/powerpoint/2010/main" val="744938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extLst>
      <p:ext uri="{BB962C8B-B14F-4D97-AF65-F5344CB8AC3E}">
        <p14:creationId xmlns:p14="http://schemas.microsoft.com/office/powerpoint/2010/main" val="144961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305899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329621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16</a:t>
            </a:fld>
            <a:endParaRPr lang="en-IN"/>
          </a:p>
        </p:txBody>
      </p:sp>
    </p:spTree>
    <p:extLst>
      <p:ext uri="{BB962C8B-B14F-4D97-AF65-F5344CB8AC3E}">
        <p14:creationId xmlns:p14="http://schemas.microsoft.com/office/powerpoint/2010/main" val="58169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17</a:t>
            </a:fld>
            <a:endParaRPr lang="en-IN"/>
          </a:p>
        </p:txBody>
      </p:sp>
    </p:spTree>
    <p:extLst>
      <p:ext uri="{BB962C8B-B14F-4D97-AF65-F5344CB8AC3E}">
        <p14:creationId xmlns:p14="http://schemas.microsoft.com/office/powerpoint/2010/main" val="421233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extLst>
      <p:ext uri="{BB962C8B-B14F-4D97-AF65-F5344CB8AC3E}">
        <p14:creationId xmlns:p14="http://schemas.microsoft.com/office/powerpoint/2010/main" val="80241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extLst>
      <p:ext uri="{BB962C8B-B14F-4D97-AF65-F5344CB8AC3E}">
        <p14:creationId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t>17-09-2026</a:t>
            </a:fld>
            <a:endParaRPr lang="en-IN"/>
          </a:p>
        </p:txBody>
      </p:sp>
      <p:sp>
        <p:nvSpPr>
          <p:cNvPr id="5" name="Footer Placeholder 4">
            <a:extLst>
              <a:ext uri="{FF2B5EF4-FFF2-40B4-BE49-F238E27FC236}">
                <a16:creationId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D7E5366-8A91-F195-6550-6C84F49F44A2}"/>
              </a:ext>
            </a:extLst>
          </p:cNvPr>
          <p:cNvSpPr>
            <a:spLocks noGrp="1"/>
          </p:cNvSpPr>
          <p:nvPr>
            <p:ph type="sldNum" sz="quarter" idx="12"/>
          </p:nvPr>
        </p:nvSpPr>
        <p:spPr/>
        <p:txBody>
          <a:bodyPr/>
          <a:lstStyle/>
          <a:p>
            <a:r>
              <a:rPr lang="en-IN" dirty="0"/>
              <a:t>Slide </a:t>
            </a:r>
            <a:fld id="{0F06A4E2-163B-4ABA-8562-AD05AC3F17C5}" type="slidenum">
              <a:rPr lang="en-IN" smtClean="0"/>
              <a:pPr/>
              <a:t>‹#›</a:t>
            </a:fld>
            <a:r>
              <a:rPr lang="en-IN" dirty="0"/>
              <a:t> 75</a:t>
            </a:r>
          </a:p>
        </p:txBody>
      </p:sp>
    </p:spTree>
    <p:extLst>
      <p:ext uri="{BB962C8B-B14F-4D97-AF65-F5344CB8AC3E}">
        <p14:creationId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t>17-09-2026</a:t>
            </a:fld>
            <a:endParaRPr lang="en-IN"/>
          </a:p>
        </p:txBody>
      </p:sp>
      <p:sp>
        <p:nvSpPr>
          <p:cNvPr id="5" name="Footer Placeholder 4">
            <a:extLst>
              <a:ext uri="{FF2B5EF4-FFF2-40B4-BE49-F238E27FC236}">
                <a16:creationId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t>17-09-2026</a:t>
            </a:fld>
            <a:endParaRPr lang="en-IN"/>
          </a:p>
        </p:txBody>
      </p:sp>
      <p:sp>
        <p:nvSpPr>
          <p:cNvPr id="5" name="Footer Placeholder 4">
            <a:extLst>
              <a:ext uri="{FF2B5EF4-FFF2-40B4-BE49-F238E27FC236}">
                <a16:creationId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t>17-09-2026</a:t>
            </a:fld>
            <a:endParaRPr lang="en-IN"/>
          </a:p>
        </p:txBody>
      </p:sp>
      <p:sp>
        <p:nvSpPr>
          <p:cNvPr id="6" name="Footer Placeholder 5">
            <a:extLst>
              <a:ext uri="{FF2B5EF4-FFF2-40B4-BE49-F238E27FC236}">
                <a16:creationId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t>17-09-2026</a:t>
            </a:fld>
            <a:endParaRPr lang="en-IN"/>
          </a:p>
        </p:txBody>
      </p:sp>
      <p:sp>
        <p:nvSpPr>
          <p:cNvPr id="8" name="Footer Placeholder 7">
            <a:extLst>
              <a:ext uri="{FF2B5EF4-FFF2-40B4-BE49-F238E27FC236}">
                <a16:creationId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t>17-09-2026</a:t>
            </a:fld>
            <a:endParaRPr lang="en-IN"/>
          </a:p>
        </p:txBody>
      </p:sp>
      <p:sp>
        <p:nvSpPr>
          <p:cNvPr id="4" name="Footer Placeholder 3">
            <a:extLst>
              <a:ext uri="{FF2B5EF4-FFF2-40B4-BE49-F238E27FC236}">
                <a16:creationId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t>17-09-2026</a:t>
            </a:fld>
            <a:endParaRPr lang="en-IN"/>
          </a:p>
        </p:txBody>
      </p:sp>
      <p:sp>
        <p:nvSpPr>
          <p:cNvPr id="3" name="Footer Placeholder 2">
            <a:extLst>
              <a:ext uri="{FF2B5EF4-FFF2-40B4-BE49-F238E27FC236}">
                <a16:creationId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t>17-09-2026</a:t>
            </a:fld>
            <a:endParaRPr lang="en-IN"/>
          </a:p>
        </p:txBody>
      </p:sp>
      <p:sp>
        <p:nvSpPr>
          <p:cNvPr id="6" name="Footer Placeholder 5">
            <a:extLst>
              <a:ext uri="{FF2B5EF4-FFF2-40B4-BE49-F238E27FC236}">
                <a16:creationId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t>17-09-2026</a:t>
            </a:fld>
            <a:endParaRPr lang="en-IN"/>
          </a:p>
        </p:txBody>
      </p:sp>
      <p:sp>
        <p:nvSpPr>
          <p:cNvPr id="6" name="Footer Placeholder 5">
            <a:extLst>
              <a:ext uri="{FF2B5EF4-FFF2-40B4-BE49-F238E27FC236}">
                <a16:creationId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t>17-09-2026</a:t>
            </a:fld>
            <a:endParaRPr lang="en-IN"/>
          </a:p>
        </p:txBody>
      </p:sp>
      <p:sp>
        <p:nvSpPr>
          <p:cNvPr id="5" name="Footer Placeholder 4">
            <a:extLst>
              <a:ext uri="{FF2B5EF4-FFF2-40B4-BE49-F238E27FC236}">
                <a16:creationId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t>17-09-2026</a:t>
            </a:fld>
            <a:endParaRPr lang="en-IN"/>
          </a:p>
        </p:txBody>
      </p:sp>
      <p:sp>
        <p:nvSpPr>
          <p:cNvPr id="5" name="Footer Placeholder 4">
            <a:extLst>
              <a:ext uri="{FF2B5EF4-FFF2-40B4-BE49-F238E27FC236}">
                <a16:creationId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17-09-2026</a:t>
            </a:fld>
            <a:endParaRPr lang="en-IN"/>
          </a:p>
        </p:txBody>
      </p:sp>
      <p:sp>
        <p:nvSpPr>
          <p:cNvPr id="5" name="Footer Placeholder 4">
            <a:extLst>
              <a:ext uri="{FF2B5EF4-FFF2-40B4-BE49-F238E27FC236}">
                <a16:creationId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extLst>
      <p:ext uri="{BB962C8B-B14F-4D97-AF65-F5344CB8AC3E}">
        <p14:creationId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16-09-2026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14110"/>
            <a:ext cx="9822608"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RoadSense AI: Vision-Based Multi-Hazard </a:t>
            </a:r>
          </a:p>
          <a:p>
            <a:pPr algn="ctr"/>
            <a:r>
              <a:rPr lang="en-IN" sz="2800" dirty="0">
                <a:latin typeface="Times New Roman" panose="02020603050405020304" pitchFamily="18" charset="0"/>
                <a:cs typeface="Times New Roman" panose="02020603050405020304" pitchFamily="18" charset="0"/>
              </a:rPr>
              <a:t>Risk Assessment </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5016184" y="3102396"/>
            <a:ext cx="2159630"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AIML-B09 </a:t>
            </a:r>
          </a:p>
        </p:txBody>
      </p:sp>
      <p:sp>
        <p:nvSpPr>
          <p:cNvPr id="9" name="TextBox 8"/>
          <p:cNvSpPr txBox="1"/>
          <p:nvPr/>
        </p:nvSpPr>
        <p:spPr>
          <a:xfrm>
            <a:off x="1897887" y="4841655"/>
            <a:ext cx="2936701"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 </a:t>
            </a:r>
            <a:r>
              <a:rPr lang="en-IN" dirty="0" err="1">
                <a:latin typeface="Times New Roman" panose="02020603050405020304" pitchFamily="18" charset="0"/>
                <a:cs typeface="Times New Roman" panose="02020603050405020304" pitchFamily="18" charset="0"/>
              </a:rPr>
              <a:t>A. Janardhana</a:t>
            </a:r>
            <a:r>
              <a:rPr lang="en-IN" dirty="0">
                <a:latin typeface="Times New Roman" panose="02020603050405020304" pitchFamily="18" charset="0"/>
                <a:cs typeface="Times New Roman" panose="02020603050405020304" pitchFamily="18" charset="0"/>
              </a:rPr>
              <a:t> Rao</a:t>
            </a:r>
          </a:p>
          <a:p>
            <a:pPr algn="ctr"/>
            <a:r>
              <a:rPr lang="en-IN" dirty="0">
                <a:latin typeface="Times New Roman" panose="02020603050405020304" pitchFamily="18" charset="0"/>
                <a:cs typeface="Times New Roman" panose="02020603050405020304" pitchFamily="18" charset="0"/>
              </a:rPr>
              <a:t>Professor, AIML,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223548" y="4936546"/>
            <a:ext cx="2825562" cy="646331"/>
          </a:xfrm>
          <a:prstGeom prst="rect">
            <a:avLst/>
          </a:prstGeom>
          <a:noFill/>
        </p:spPr>
        <p:txBody>
          <a:bodyPr wrap="square" rtlCol="0">
            <a:spAutoFit/>
          </a:bodyPr>
          <a:lstStyle/>
          <a:p>
            <a:r>
              <a:rPr lang="en-IN" dirty="0"/>
              <a:t>P. Hemanjali – 23BQ1A6199</a:t>
            </a:r>
          </a:p>
          <a:p>
            <a:r>
              <a:rPr lang="en-IN" dirty="0"/>
              <a:t>P. Narendra – 23BQ1A6198</a:t>
            </a:r>
          </a:p>
        </p:txBody>
      </p:sp>
      <p:sp>
        <p:nvSpPr>
          <p:cNvPr id="13" name="TextBox 12"/>
          <p:cNvSpPr txBox="1"/>
          <p:nvPr/>
        </p:nvSpPr>
        <p:spPr>
          <a:xfrm>
            <a:off x="8950000" y="4936546"/>
            <a:ext cx="3050000" cy="646331"/>
          </a:xfrm>
          <a:prstGeom prst="rect">
            <a:avLst/>
          </a:prstGeom>
          <a:noFill/>
        </p:spPr>
        <p:txBody>
          <a:bodyPr wrap="square" rtlCol="0">
            <a:spAutoFit/>
          </a:bodyPr>
          <a:lstStyle/>
          <a:p>
            <a:r>
              <a:rPr lang="en-IN" dirty="0"/>
              <a:t>M. V. Akash – 23BQ1A6178</a:t>
            </a:r>
          </a:p>
          <a:p>
            <a:r>
              <a:rPr lang="en-IN" dirty="0"/>
              <a:t>P. Siraj – 23BQ1A61A3</a:t>
            </a: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rgbClr val="E77E32"/>
                </a:solidFill>
              </a:rPr>
              <a:t>Dept. AIML @ VVIT</a:t>
            </a:r>
          </a:p>
        </p:txBody>
      </p:sp>
    </p:spTree>
    <p:extLst>
      <p:ext uri="{BB962C8B-B14F-4D97-AF65-F5344CB8AC3E}">
        <p14:creationId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2"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1192014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err="1">
                <a:latin typeface="Times New Roman" panose="02020603050405020304" pitchFamily="18" charset="0"/>
                <a:cs typeface="Times New Roman" panose="02020603050405020304" pitchFamily="18" charset="0"/>
              </a:rPr>
              <a:t>Mr. 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Janardhana</a:t>
            </a:r>
            <a:r>
              <a:rPr lang="en-IN" sz="1200" dirty="0">
                <a:latin typeface="Times New Roman" panose="02020603050405020304" pitchFamily="18" charset="0"/>
                <a:cs typeface="Times New Roman" panose="02020603050405020304" pitchFamily="18" charset="0"/>
              </a:rPr>
              <a:t> Rao</a:t>
            </a:r>
          </a:p>
          <a:p>
            <a:r>
              <a:rPr lang="en-IN" sz="1200" dirty="0">
                <a:latin typeface="Times New Roman" panose="02020603050405020304" pitchFamily="18" charset="0"/>
                <a:cs typeface="Times New Roman" panose="02020603050405020304" pitchFamily="18" charset="0"/>
              </a:rPr>
              <a:t>Batch ID: B-09</a:t>
            </a:r>
          </a:p>
          <a:p>
            <a:r>
              <a:rPr lang="en-IN" sz="1200" dirty="0">
                <a:latin typeface="Times New Roman" panose="02020603050405020304" pitchFamily="18" charset="0"/>
                <a:cs typeface="Times New Roman" panose="02020603050405020304" pitchFamily="18" charset="0"/>
              </a:rPr>
              <a:t>23BQ1A6199 (TL), 23BQ1A6198,</a:t>
            </a:r>
          </a:p>
          <a:p>
            <a:r>
              <a:rPr lang="en-IN" sz="1200" dirty="0">
                <a:latin typeface="Times New Roman" panose="02020603050405020304" pitchFamily="18" charset="0"/>
                <a:cs typeface="Times New Roman" panose="02020603050405020304" pitchFamily="18" charset="0"/>
              </a:rPr>
              <a:t>23BQ1A6178, 23BQ1A61A3</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02ABF563-754C-F194-5E8D-DB17E83E7D51}"/>
              </a:ext>
            </a:extLst>
          </p:cNvPr>
          <p:cNvSpPr txBox="1"/>
          <p:nvPr/>
        </p:nvSpPr>
        <p:spPr>
          <a:xfrm>
            <a:off x="531844" y="1762828"/>
            <a:ext cx="10263673" cy="2031325"/>
          </a:xfrm>
          <a:prstGeom prst="rect">
            <a:avLst/>
          </a:prstGeom>
          <a:noFill/>
        </p:spPr>
        <p:txBody>
          <a:bodyPr wrap="square">
            <a:spAutoFit/>
          </a:bodyPr>
          <a:lstStyle/>
          <a:p>
            <a:pPr algn="just"/>
            <a:r>
              <a:rPr lang="en-IN" dirty="0"/>
              <a:t>Existing driver-assistance systems usually detect road hazards individually, such as pedestrians, vehicles, cyclists or potholes. They mainly provide detections and alerts, but do not combine multiple hazards into a single risk assessment. As a result, drivers may receive several alerts without knowing which hazard is more critical or what action to take. The lack of hazard tracking, distance estimation and contextual risk assessment increases driver workload and reaction time. Hence, there is a need for a vision-based system that can detect multiple road hazards, assess their risk level and provide suitable driving decisions.</a:t>
            </a:r>
          </a:p>
        </p:txBody>
      </p:sp>
    </p:spTree>
    <p:extLst>
      <p:ext uri="{BB962C8B-B14F-4D97-AF65-F5344CB8AC3E}">
        <p14:creationId xmlns:p14="http://schemas.microsoft.com/office/powerpoint/2010/main" val="12664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b="1" dirty="0"/>
              <a:t>Augmenting Roadway Safety with ML and DL: Pothole Detection and Dimension Estimation</a:t>
            </a:r>
            <a:br>
              <a:rPr lang="en-US" sz="1400" dirty="0"/>
            </a:br>
            <a:r>
              <a:rPr lang="en-US" sz="1400" i="1" dirty="0"/>
              <a:t>Ruseruka, Mwakalonge, Comert, Siuhi, Ngeni &amp; Anderson (2024) | Machine Learning with Applications | Published by Elsevier</a:t>
            </a:r>
            <a:endParaRPr lang="en-IN" sz="1400" dirty="0"/>
          </a:p>
        </p:txBody>
      </p:sp>
      <p:sp>
        <p:nvSpPr>
          <p:cNvPr id="8" name="TextBox 7">
            <a:extLst>
              <a:ext uri="{FF2B5EF4-FFF2-40B4-BE49-F238E27FC236}">
                <a16:creationId xmlns:a16="http://schemas.microsoft.com/office/drawing/2014/main" id="{A0ACF570-FEA8-2283-52FF-D20BDC01A007}"/>
              </a:ext>
            </a:extLst>
          </p:cNvPr>
          <p:cNvSpPr txBox="1"/>
          <p:nvPr/>
        </p:nvSpPr>
        <p:spPr>
          <a:xfrm>
            <a:off x="498987" y="1804150"/>
            <a:ext cx="9288825" cy="2308324"/>
          </a:xfrm>
          <a:prstGeom prst="rect">
            <a:avLst/>
          </a:prstGeom>
          <a:noFill/>
        </p:spPr>
        <p:txBody>
          <a:bodyPr wrap="square">
            <a:spAutoFit/>
          </a:bodyPr>
          <a:lstStyle/>
          <a:p>
            <a:pPr>
              <a:buNone/>
            </a:pPr>
            <a:r>
              <a:rPr lang="en-IN" b="1" dirty="0"/>
              <a:t>Proposed Method</a:t>
            </a:r>
          </a:p>
          <a:p>
            <a:pPr>
              <a:buNone/>
            </a:pPr>
            <a:endParaRPr lang="en-IN" b="1" dirty="0"/>
          </a:p>
          <a:p>
            <a:pPr marL="342900" lvl="0" indent="-342900">
              <a:buFont typeface="Arial" panose="020B0604020202020204" pitchFamily="34" charset="0"/>
              <a:buChar char="•"/>
            </a:pPr>
            <a:r>
              <a:rPr lang="en-IN" i="1" dirty="0"/>
              <a:t>Ruseruka et al. (2024), Machine Learning with Applications</a:t>
            </a:r>
          </a:p>
          <a:p>
            <a:pPr marL="342900" lvl="0" indent="-342900">
              <a:buFont typeface="Arial" panose="020B0604020202020204" pitchFamily="34" charset="0"/>
              <a:buChar char="•"/>
            </a:pPr>
            <a:r>
              <a:rPr lang="en-IN" dirty="0"/>
              <a:t>YOLOv5 with in-vehicle camera for </a:t>
            </a:r>
            <a:r>
              <a:rPr lang="en-IN" b="1" dirty="0"/>
              <a:t>pothole detection</a:t>
            </a:r>
          </a:p>
          <a:p>
            <a:pPr marL="342900" lvl="0" indent="-342900">
              <a:buFont typeface="Arial" panose="020B0604020202020204" pitchFamily="34" charset="0"/>
              <a:buChar char="•"/>
            </a:pPr>
            <a:r>
              <a:rPr lang="en-IN" dirty="0"/>
              <a:t>Pothole </a:t>
            </a:r>
            <a:r>
              <a:rPr lang="en-IN" b="1" dirty="0"/>
              <a:t>dimension estimation</a:t>
            </a:r>
            <a:r>
              <a:rPr lang="en-IN" dirty="0"/>
              <a:t> using computer vision</a:t>
            </a:r>
          </a:p>
          <a:p>
            <a:pPr marL="342900" lvl="0" indent="-342900">
              <a:buFont typeface="Arial" panose="020B0604020202020204" pitchFamily="34" charset="0"/>
              <a:buChar char="•"/>
            </a:pPr>
            <a:r>
              <a:rPr lang="en-IN" b="1" dirty="0"/>
              <a:t>Lane markings</a:t>
            </a:r>
            <a:r>
              <a:rPr lang="en-IN" dirty="0"/>
              <a:t> act as reference for estimating pothole size</a:t>
            </a:r>
          </a:p>
          <a:p>
            <a:pPr marL="342900" lvl="0" indent="-342900">
              <a:buFont typeface="Arial" panose="020B0604020202020204" pitchFamily="34" charset="0"/>
              <a:buChar char="•"/>
            </a:pPr>
            <a:r>
              <a:rPr lang="en-IN" b="1" dirty="0"/>
              <a:t>Geolocation</a:t>
            </a:r>
            <a:r>
              <a:rPr lang="en-IN" dirty="0"/>
              <a:t> of detected potholes for maintenance planning</a:t>
            </a:r>
          </a:p>
        </p:txBody>
      </p:sp>
    </p:spTree>
    <p:extLst>
      <p:ext uri="{BB962C8B-B14F-4D97-AF65-F5344CB8AC3E}">
        <p14:creationId xmlns:p14="http://schemas.microsoft.com/office/powerpoint/2010/main" val="199779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b="1" dirty="0">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b="1" dirty="0"/>
              <a:t>Augmenting Roadway Safety with ML and DL: Pothole Detection and Dimension Estimation</a:t>
            </a:r>
            <a:br>
              <a:rPr lang="en-US" sz="1400" dirty="0"/>
            </a:br>
            <a:r>
              <a:rPr lang="en-US" sz="1400" i="1" dirty="0"/>
              <a:t>Ruseruka, Mwakalonge, Comert, Siuhi, Ngeni &amp; Anderson (2024) | Machine Learning with Applications | Published by Elsevier</a:t>
            </a:r>
            <a:endParaRPr lang="en-IN" sz="1400" dirty="0"/>
          </a:p>
        </p:txBody>
      </p:sp>
      <p:sp>
        <p:nvSpPr>
          <p:cNvPr id="8" name="TextBox 7">
            <a:extLst>
              <a:ext uri="{FF2B5EF4-FFF2-40B4-BE49-F238E27FC236}">
                <a16:creationId xmlns:a16="http://schemas.microsoft.com/office/drawing/2014/main" id="{3D38102B-3508-97CD-4CDB-A4BA6B1DC3D5}"/>
              </a:ext>
            </a:extLst>
          </p:cNvPr>
          <p:cNvSpPr txBox="1"/>
          <p:nvPr/>
        </p:nvSpPr>
        <p:spPr>
          <a:xfrm>
            <a:off x="498987" y="1821390"/>
            <a:ext cx="8456489" cy="2585323"/>
          </a:xfrm>
          <a:prstGeom prst="rect">
            <a:avLst/>
          </a:prstGeom>
          <a:noFill/>
        </p:spPr>
        <p:txBody>
          <a:bodyPr wrap="square">
            <a:spAutoFit/>
          </a:bodyPr>
          <a:lstStyle/>
          <a:p>
            <a:pPr>
              <a:buNone/>
            </a:pPr>
            <a:r>
              <a:rPr lang="en-IN" b="1" dirty="0"/>
              <a:t>Data &amp; Setup</a:t>
            </a:r>
          </a:p>
          <a:p>
            <a:pPr>
              <a:buNone/>
            </a:pPr>
            <a:endParaRPr lang="en-IN" b="1" dirty="0"/>
          </a:p>
          <a:p>
            <a:pPr marL="342900" lvl="0" indent="-342900">
              <a:buFont typeface="Arial" panose="020B0604020202020204" pitchFamily="34" charset="0"/>
              <a:buChar char="•"/>
            </a:pPr>
            <a:r>
              <a:rPr lang="en-IN" b="1" dirty="0"/>
              <a:t>Smartphone Road Damage Dataset</a:t>
            </a:r>
            <a:r>
              <a:rPr lang="en-IN" dirty="0"/>
              <a:t> (Japan, India, Czech Republic) + Roboflow potholes</a:t>
            </a:r>
          </a:p>
          <a:p>
            <a:pPr marL="342900" lvl="0" indent="-342900">
              <a:buFont typeface="Arial" panose="020B0604020202020204" pitchFamily="34" charset="0"/>
              <a:buChar char="•"/>
            </a:pPr>
            <a:r>
              <a:rPr lang="en-IN" dirty="0"/>
              <a:t>Random sample of </a:t>
            </a:r>
            <a:r>
              <a:rPr lang="en-IN" b="1" dirty="0"/>
              <a:t>1,876 images</a:t>
            </a:r>
            <a:r>
              <a:rPr lang="en-IN" dirty="0"/>
              <a:t>; </a:t>
            </a:r>
            <a:r>
              <a:rPr lang="en-IN" b="1" dirty="0"/>
              <a:t>20,715 pothole instances</a:t>
            </a:r>
            <a:r>
              <a:rPr lang="en-IN" dirty="0"/>
              <a:t> annotated</a:t>
            </a:r>
          </a:p>
          <a:p>
            <a:pPr marL="342900" lvl="0" indent="-342900">
              <a:buFont typeface="Arial" panose="020B0604020202020204" pitchFamily="34" charset="0"/>
              <a:buChar char="•"/>
            </a:pPr>
            <a:r>
              <a:rPr lang="en-IN" dirty="0"/>
              <a:t>Augmentation: flip, rotation (60°), blur, zoom, shifts, brightness (0.2–1.0)</a:t>
            </a:r>
          </a:p>
          <a:p>
            <a:pPr marL="342900" lvl="0" indent="-342900">
              <a:buFont typeface="Arial" panose="020B0604020202020204" pitchFamily="34" charset="0"/>
              <a:buChar char="•"/>
            </a:pPr>
            <a:r>
              <a:rPr lang="en-IN" dirty="0"/>
              <a:t>Split </a:t>
            </a:r>
            <a:r>
              <a:rPr lang="en-IN" b="1" dirty="0"/>
              <a:t>80% train / 20% validation</a:t>
            </a:r>
            <a:r>
              <a:rPr lang="en-IN" dirty="0"/>
              <a:t>; </a:t>
            </a:r>
            <a:r>
              <a:rPr lang="en-IN" b="1" dirty="0"/>
              <a:t>140 epochs</a:t>
            </a:r>
            <a:r>
              <a:rPr lang="en-IN" dirty="0"/>
              <a:t>, 2.05 h on Google Colab, SGD 0.01, batch 20</a:t>
            </a:r>
          </a:p>
          <a:p>
            <a:pPr marL="342900" lvl="0" indent="-342900">
              <a:buFont typeface="Arial" panose="020B0604020202020204" pitchFamily="34" charset="0"/>
              <a:buChar char="•"/>
            </a:pPr>
            <a:r>
              <a:rPr lang="en-IN" dirty="0"/>
              <a:t>Size module: </a:t>
            </a:r>
            <a:r>
              <a:rPr lang="en-IN" b="1" dirty="0"/>
              <a:t>Honda driving video dataset</a:t>
            </a:r>
            <a:r>
              <a:rPr lang="en-IN" dirty="0"/>
              <a:t> (104 h) + OpenCV </a:t>
            </a:r>
            <a:r>
              <a:rPr lang="en-IN" b="1" dirty="0"/>
              <a:t>Hough lines</a:t>
            </a:r>
            <a:r>
              <a:rPr lang="en-IN" dirty="0"/>
              <a:t> for lane scale</a:t>
            </a:r>
          </a:p>
        </p:txBody>
      </p:sp>
    </p:spTree>
    <p:extLst>
      <p:ext uri="{BB962C8B-B14F-4D97-AF65-F5344CB8AC3E}">
        <p14:creationId xmlns:p14="http://schemas.microsoft.com/office/powerpoint/2010/main" val="204099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b="1" dirty="0">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b="1" dirty="0"/>
              <a:t>Augmenting Roadway Safety with ML and DL: Pothole Detection and Dimension Estimation</a:t>
            </a:r>
            <a:br>
              <a:rPr lang="en-US" sz="1400" dirty="0"/>
            </a:br>
            <a:r>
              <a:rPr lang="en-US" sz="1400" i="1" dirty="0"/>
              <a:t>Ruseruka, Mwakalonge, Comert, Siuhi, Ngeni &amp; Anderson (2024) | Machine Learning with Applications | Published by Elsevier</a:t>
            </a:r>
            <a:endParaRPr lang="en-IN" sz="1400" dirty="0"/>
          </a:p>
        </p:txBody>
      </p:sp>
      <p:sp>
        <p:nvSpPr>
          <p:cNvPr id="8" name="TextBox 7">
            <a:extLst>
              <a:ext uri="{FF2B5EF4-FFF2-40B4-BE49-F238E27FC236}">
                <a16:creationId xmlns:a16="http://schemas.microsoft.com/office/drawing/2014/main" id="{E2FECA32-A876-A971-8C23-001A2F7AE683}"/>
              </a:ext>
            </a:extLst>
          </p:cNvPr>
          <p:cNvSpPr txBox="1"/>
          <p:nvPr/>
        </p:nvSpPr>
        <p:spPr>
          <a:xfrm>
            <a:off x="498987" y="1821390"/>
            <a:ext cx="9232842" cy="2031325"/>
          </a:xfrm>
          <a:prstGeom prst="rect">
            <a:avLst/>
          </a:prstGeom>
          <a:noFill/>
        </p:spPr>
        <p:txBody>
          <a:bodyPr wrap="square">
            <a:spAutoFit/>
          </a:bodyPr>
          <a:lstStyle/>
          <a:p>
            <a:pPr>
              <a:buNone/>
            </a:pPr>
            <a:r>
              <a:rPr lang="en-IN" b="1" dirty="0"/>
              <a:t>Key Results</a:t>
            </a:r>
          </a:p>
          <a:p>
            <a:pPr>
              <a:buNone/>
            </a:pPr>
            <a:endParaRPr lang="en-IN" b="1" dirty="0"/>
          </a:p>
          <a:p>
            <a:pPr marL="342900" lvl="0" indent="-342900">
              <a:buFont typeface="Arial" panose="020B0604020202020204" pitchFamily="34" charset="0"/>
              <a:buChar char="•"/>
            </a:pPr>
            <a:r>
              <a:rPr lang="en-IN" b="1" dirty="0"/>
              <a:t>Precision 93.0% | Recall 91.6% | F1 87.0% | mAP 96.3%</a:t>
            </a:r>
          </a:p>
          <a:p>
            <a:pPr marL="342900" lvl="0" indent="-342900">
              <a:buFont typeface="Arial" panose="020B0604020202020204" pitchFamily="34" charset="0"/>
              <a:buChar char="•"/>
            </a:pPr>
            <a:r>
              <a:rPr lang="en-IN" dirty="0"/>
              <a:t>Lane-based scale of </a:t>
            </a:r>
            <a:r>
              <a:rPr lang="en-IN" b="1" dirty="0"/>
              <a:t>0.328 mm/pixel</a:t>
            </a:r>
            <a:r>
              <a:rPr lang="en-IN" dirty="0"/>
              <a:t> derived from 3,600 mm lane width</a:t>
            </a:r>
          </a:p>
          <a:p>
            <a:pPr marL="342900" lvl="0" indent="-342900">
              <a:buFont typeface="Arial" panose="020B0604020202020204" pitchFamily="34" charset="0"/>
              <a:buChar char="•"/>
            </a:pPr>
            <a:r>
              <a:rPr lang="en-IN" dirty="0"/>
              <a:t>Validated on detection loops: size error of only </a:t>
            </a:r>
            <a:r>
              <a:rPr lang="en-IN" b="1" dirty="0"/>
              <a:t>2.30%</a:t>
            </a:r>
          </a:p>
          <a:p>
            <a:pPr marL="342900" lvl="0" indent="-342900">
              <a:buFont typeface="Arial" panose="020B0604020202020204" pitchFamily="34" charset="0"/>
              <a:buChar char="•"/>
            </a:pPr>
            <a:r>
              <a:rPr lang="en-IN" dirty="0"/>
              <a:t>Twenty predictions: mean </a:t>
            </a:r>
            <a:r>
              <a:rPr lang="en-IN" b="1" dirty="0"/>
              <a:t>1828.03 mm</a:t>
            </a:r>
            <a:r>
              <a:rPr lang="en-IN" dirty="0"/>
              <a:t>, SD 26.20, significant at 5% (</a:t>
            </a:r>
            <a:r>
              <a:rPr lang="en-IN" b="1" dirty="0"/>
              <a:t>p = 0.037</a:t>
            </a:r>
            <a:r>
              <a:rPr lang="en-IN" dirty="0"/>
              <a:t>)</a:t>
            </a:r>
          </a:p>
          <a:p>
            <a:pPr marL="342900" lvl="0" indent="-342900">
              <a:buFont typeface="Arial" panose="020B0604020202020204" pitchFamily="34" charset="0"/>
              <a:buChar char="•"/>
            </a:pPr>
            <a:r>
              <a:rPr lang="en-IN" dirty="0"/>
              <a:t>Detected potholes are geolocated for maintenance planning</a:t>
            </a:r>
          </a:p>
        </p:txBody>
      </p:sp>
    </p:spTree>
    <p:extLst>
      <p:ext uri="{BB962C8B-B14F-4D97-AF65-F5344CB8AC3E}">
        <p14:creationId xmlns:p14="http://schemas.microsoft.com/office/powerpoint/2010/main" val="877517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b="1" dirty="0">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b="1" dirty="0"/>
              <a:t>Augmenting Roadway Safety with ML and DL: Pothole Detection and Dimension Estimation</a:t>
            </a:r>
            <a:br>
              <a:rPr lang="en-US" sz="1400" dirty="0"/>
            </a:br>
            <a:r>
              <a:rPr lang="en-US" sz="1400" i="1" dirty="0"/>
              <a:t>Ruseruka, Mwakalonge, Comert, Siuhi, Ngeni &amp; Anderson (2024) | Machine Learning with Applications | Published by Elsevier</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Automated pothole detection with </a:t>
            </a:r>
            <a:r>
              <a:rPr lang="en-IN" b="1" dirty="0">
                <a:solidFill>
                  <a:schemeClr val="tx1"/>
                </a:solidFill>
              </a:rPr>
              <a:t>YOLOv5 (96.3% mAP)</a:t>
            </a:r>
          </a:p>
          <a:p>
            <a:pPr marL="342900" lvl="0" indent="-342900">
              <a:buFont typeface="Arial" panose="020B0604020202020204" pitchFamily="34" charset="0"/>
              <a:buChar char="•"/>
            </a:pPr>
            <a:r>
              <a:rPr lang="en-IN" dirty="0">
                <a:solidFill>
                  <a:schemeClr val="tx1"/>
                </a:solidFill>
              </a:rPr>
              <a:t>Combines detection with </a:t>
            </a:r>
            <a:r>
              <a:rPr lang="en-IN" b="1" dirty="0">
                <a:solidFill>
                  <a:schemeClr val="tx1"/>
                </a:solidFill>
              </a:rPr>
              <a:t>dimension estimation</a:t>
            </a:r>
          </a:p>
          <a:p>
            <a:pPr marL="342900" lvl="0" indent="-342900">
              <a:buFont typeface="Arial" panose="020B0604020202020204" pitchFamily="34" charset="0"/>
              <a:buChar char="•"/>
            </a:pPr>
            <a:r>
              <a:rPr lang="en-IN" dirty="0">
                <a:solidFill>
                  <a:schemeClr val="tx1"/>
                </a:solidFill>
              </a:rPr>
              <a:t>Uses ordinary </a:t>
            </a:r>
            <a:r>
              <a:rPr lang="en-IN" b="1" dirty="0">
                <a:solidFill>
                  <a:schemeClr val="tx1"/>
                </a:solidFill>
              </a:rPr>
              <a:t>in-vehicle technology</a:t>
            </a:r>
            <a:r>
              <a:rPr lang="en-IN" dirty="0">
                <a:solidFill>
                  <a:schemeClr val="tx1"/>
                </a:solidFill>
              </a:rPr>
              <a:t>, no special sensors</a:t>
            </a:r>
          </a:p>
          <a:p>
            <a:pPr marL="342900" lvl="0" indent="-342900">
              <a:buFont typeface="Arial" panose="020B0604020202020204" pitchFamily="34" charset="0"/>
              <a:buChar char="•"/>
            </a:pPr>
            <a:r>
              <a:rPr lang="en-IN" dirty="0">
                <a:solidFill>
                  <a:schemeClr val="tx1"/>
                </a:solidFill>
              </a:rPr>
              <a:t>Supports </a:t>
            </a:r>
            <a:r>
              <a:rPr lang="en-IN" b="1" dirty="0">
                <a:solidFill>
                  <a:schemeClr val="tx1"/>
                </a:solidFill>
              </a:rPr>
              <a:t>geolocation</a:t>
            </a:r>
            <a:r>
              <a:rPr lang="en-IN" dirty="0">
                <a:solidFill>
                  <a:schemeClr val="tx1"/>
                </a:solidFill>
              </a:rPr>
              <a:t> of detected hazards</a:t>
            </a:r>
          </a:p>
          <a:p>
            <a:pPr marL="342900" lvl="0" indent="-342900">
              <a:buFont typeface="Arial" panose="020B0604020202020204" pitchFamily="34" charset="0"/>
              <a:buChar char="•"/>
            </a:pPr>
            <a:r>
              <a:rPr lang="en-IN" dirty="0">
                <a:solidFill>
                  <a:schemeClr val="tx1"/>
                </a:solidFill>
              </a:rPr>
              <a:t>Data augmentation improves model training</a:t>
            </a: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Dimension estimation depends on </a:t>
            </a:r>
            <a:r>
              <a:rPr lang="en-IN" b="1" dirty="0">
                <a:solidFill>
                  <a:schemeClr val="tx1"/>
                </a:solidFill>
              </a:rPr>
              <a:t>clear lane markings</a:t>
            </a:r>
          </a:p>
          <a:p>
            <a:pPr marL="342900" lvl="0" indent="-342900">
              <a:buFont typeface="Arial" panose="020B0604020202020204" pitchFamily="34" charset="0"/>
              <a:buChar char="•"/>
            </a:pPr>
            <a:r>
              <a:rPr lang="en-IN" dirty="0">
                <a:solidFill>
                  <a:schemeClr val="tx1"/>
                </a:solidFill>
              </a:rPr>
              <a:t>Faded markings reduce estimation accuracy</a:t>
            </a:r>
          </a:p>
          <a:p>
            <a:pPr marL="342900" lvl="0" indent="-342900">
              <a:buFont typeface="Arial" panose="020B0604020202020204" pitchFamily="34" charset="0"/>
              <a:buChar char="•"/>
            </a:pPr>
            <a:r>
              <a:rPr lang="en-IN" dirty="0">
                <a:solidFill>
                  <a:schemeClr val="tx1"/>
                </a:solidFill>
              </a:rPr>
              <a:t>Focuses on </a:t>
            </a:r>
            <a:r>
              <a:rPr lang="en-IN" b="1" dirty="0">
                <a:solidFill>
                  <a:schemeClr val="tx1"/>
                </a:solidFill>
              </a:rPr>
              <a:t>potholes only</a:t>
            </a:r>
            <a:r>
              <a:rPr lang="en-IN" dirty="0">
                <a:solidFill>
                  <a:schemeClr val="tx1"/>
                </a:solidFill>
              </a:rPr>
              <a:t>, not multiple hazards</a:t>
            </a:r>
          </a:p>
          <a:p>
            <a:pPr marL="342900" lvl="0" indent="-342900">
              <a:buFont typeface="Arial" panose="020B0604020202020204" pitchFamily="34" charset="0"/>
              <a:buChar char="•"/>
            </a:pPr>
            <a:r>
              <a:rPr lang="en-IN" dirty="0">
                <a:solidFill>
                  <a:schemeClr val="tx1"/>
                </a:solidFill>
              </a:rPr>
              <a:t>Relies purely on </a:t>
            </a:r>
            <a:r>
              <a:rPr lang="en-IN" b="1" dirty="0">
                <a:solidFill>
                  <a:schemeClr val="tx1"/>
                </a:solidFill>
              </a:rPr>
              <a:t>visual road information</a:t>
            </a:r>
          </a:p>
          <a:p>
            <a:pPr marL="342900" lvl="0" indent="-342900">
              <a:buFont typeface="Arial" panose="020B0604020202020204" pitchFamily="34" charset="0"/>
              <a:buChar char="•"/>
            </a:pPr>
            <a:r>
              <a:rPr lang="en-IN" dirty="0">
                <a:solidFill>
                  <a:schemeClr val="tx1"/>
                </a:solidFill>
              </a:rPr>
              <a:t>Needs validation across more road conditions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2598163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b="1" dirty="0">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b="1" dirty="0"/>
              <a:t>Augmenting Roadway Safety with ML and DL: Pothole Detection and Dimension Estimation</a:t>
            </a:r>
            <a:br>
              <a:rPr lang="en-US" sz="1400" dirty="0"/>
            </a:br>
            <a:r>
              <a:rPr lang="en-US" sz="1400" i="1" dirty="0"/>
              <a:t>Ruseruka, Mwakalonge, Comert, Siuhi, Ngeni &amp; Anderson (2024) | Machine Learning with Applications | Published by Elsevier</a:t>
            </a:r>
            <a:endParaRPr lang="en-IN" sz="1400" dirty="0"/>
          </a:p>
        </p:txBody>
      </p:sp>
      <p:sp>
        <p:nvSpPr>
          <p:cNvPr id="8" name="TextBox 7">
            <a:extLst>
              <a:ext uri="{FF2B5EF4-FFF2-40B4-BE49-F238E27FC236}">
                <a16:creationId xmlns:a16="http://schemas.microsoft.com/office/drawing/2014/main" id="{40850020-62AC-84C5-50D3-18E673E08399}"/>
              </a:ext>
            </a:extLst>
          </p:cNvPr>
          <p:cNvSpPr txBox="1"/>
          <p:nvPr/>
        </p:nvSpPr>
        <p:spPr>
          <a:xfrm>
            <a:off x="498987" y="1821390"/>
            <a:ext cx="9167527" cy="2308324"/>
          </a:xfrm>
          <a:prstGeom prst="rect">
            <a:avLst/>
          </a:prstGeom>
          <a:noFill/>
        </p:spPr>
        <p:txBody>
          <a:bodyPr wrap="square">
            <a:spAutoFit/>
          </a:bodyPr>
          <a:lstStyle/>
          <a:p>
            <a:pPr>
              <a:buNone/>
            </a:pPr>
            <a:r>
              <a:rPr lang="en-IN" b="1" dirty="0"/>
              <a:t>Relevance to My Research</a:t>
            </a:r>
          </a:p>
          <a:p>
            <a:pPr>
              <a:buNone/>
            </a:pPr>
            <a:endParaRPr lang="en-IN" b="1" dirty="0"/>
          </a:p>
          <a:p>
            <a:pPr marL="342900" lvl="0" indent="-342900">
              <a:buFont typeface="Arial" panose="020B0604020202020204" pitchFamily="34" charset="0"/>
              <a:buChar char="•"/>
            </a:pPr>
            <a:r>
              <a:rPr lang="en-IN" dirty="0"/>
              <a:t>Shows </a:t>
            </a:r>
            <a:r>
              <a:rPr lang="en-IN" b="1" dirty="0"/>
              <a:t>low-cost in-vehicle cameras</a:t>
            </a:r>
            <a:r>
              <a:rPr lang="en-IN" dirty="0"/>
              <a:t> are enough for monitoring</a:t>
            </a:r>
          </a:p>
          <a:p>
            <a:pPr marL="342900" lvl="0" indent="-342900">
              <a:buFont typeface="Arial" panose="020B0604020202020204" pitchFamily="34" charset="0"/>
              <a:buChar char="•"/>
            </a:pPr>
            <a:r>
              <a:rPr lang="en-IN" dirty="0"/>
              <a:t>Severity information (size) strengthens </a:t>
            </a:r>
            <a:r>
              <a:rPr lang="en-IN" b="1" dirty="0"/>
              <a:t>risk assessment</a:t>
            </a:r>
          </a:p>
          <a:p>
            <a:pPr marL="342900" lvl="0" indent="-342900">
              <a:buFont typeface="Arial" panose="020B0604020202020204" pitchFamily="34" charset="0"/>
              <a:buChar char="•"/>
            </a:pPr>
            <a:r>
              <a:rPr lang="en-IN" dirty="0"/>
              <a:t>Confirms detection alone is not enough for </a:t>
            </a:r>
            <a:r>
              <a:rPr lang="en-IN" b="1" dirty="0"/>
              <a:t>driver decisions</a:t>
            </a:r>
          </a:p>
          <a:p>
            <a:pPr marL="342900" lvl="0" indent="-342900">
              <a:buFont typeface="Arial" panose="020B0604020202020204" pitchFamily="34" charset="0"/>
              <a:buChar char="•"/>
            </a:pPr>
            <a:r>
              <a:rPr lang="en-IN" dirty="0"/>
              <a:t>Highlights the gap: single hazard, </a:t>
            </a:r>
            <a:r>
              <a:rPr lang="en-IN" b="1" dirty="0"/>
              <a:t>no unified risk output</a:t>
            </a:r>
          </a:p>
          <a:p>
            <a:pPr marL="342900" lvl="0" indent="-342900">
              <a:buFont typeface="Arial" panose="020B0604020202020204" pitchFamily="34" charset="0"/>
              <a:buChar char="•"/>
            </a:pPr>
            <a:r>
              <a:rPr lang="en-IN" dirty="0"/>
              <a:t>RoadSense AI unifies </a:t>
            </a:r>
            <a:r>
              <a:rPr lang="en-IN" b="1" dirty="0"/>
              <a:t>detection, tracking, distance and risk</a:t>
            </a:r>
          </a:p>
        </p:txBody>
      </p:sp>
    </p:spTree>
    <p:extLst>
      <p:ext uri="{BB962C8B-B14F-4D97-AF65-F5344CB8AC3E}">
        <p14:creationId xmlns:p14="http://schemas.microsoft.com/office/powerpoint/2010/main" val="386720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RoadSense AI: Vision-Based Multi-Hazard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Risk Assessment </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b="1" dirty="0"/>
              <a:t>Pothole Detection and Assessment on Highways Using Enhanced YOLO Algorithm With Attention Mechanisms</a:t>
            </a:r>
            <a:br>
              <a:rPr lang="en-US" sz="1400" dirty="0"/>
            </a:br>
            <a:r>
              <a:rPr lang="en-US" sz="1400" i="1" dirty="0"/>
              <a:t>R. Rubin et al. (2025) | Advances in Civil Engineering | Published by Hindawi (Wiley)</a:t>
            </a:r>
            <a:endParaRPr lang="en-IN" sz="1400" dirty="0"/>
          </a:p>
        </p:txBody>
      </p:sp>
      <p:sp>
        <p:nvSpPr>
          <p:cNvPr id="8" name="TextBox 7">
            <a:extLst>
              <a:ext uri="{FF2B5EF4-FFF2-40B4-BE49-F238E27FC236}">
                <a16:creationId xmlns:a16="http://schemas.microsoft.com/office/drawing/2014/main" id="{7DF8568B-8BC6-8044-56D9-396E4F960B9B}"/>
              </a:ext>
            </a:extLst>
          </p:cNvPr>
          <p:cNvSpPr txBox="1"/>
          <p:nvPr/>
        </p:nvSpPr>
        <p:spPr>
          <a:xfrm>
            <a:off x="498987" y="1677833"/>
            <a:ext cx="9530586" cy="3139321"/>
          </a:xfrm>
          <a:prstGeom prst="rect">
            <a:avLst/>
          </a:prstGeom>
          <a:noFill/>
        </p:spPr>
        <p:txBody>
          <a:bodyPr wrap="square">
            <a:spAutoFit/>
          </a:bodyPr>
          <a:lstStyle/>
          <a:p>
            <a:pPr>
              <a:buNone/>
            </a:pPr>
            <a:r>
              <a:rPr lang="en-IN" b="1" dirty="0"/>
              <a:t>Proposed Method</a:t>
            </a:r>
          </a:p>
          <a:p>
            <a:pPr>
              <a:buNone/>
            </a:pPr>
            <a:endParaRPr lang="en-IN" b="1" dirty="0"/>
          </a:p>
          <a:p>
            <a:pPr marL="342900" lvl="0" indent="-342900">
              <a:buFont typeface="Arial" panose="020B0604020202020204" pitchFamily="34" charset="0"/>
              <a:buChar char="•"/>
            </a:pPr>
            <a:r>
              <a:rPr lang="en-IN" i="1" dirty="0"/>
              <a:t>Rubin et al. (2025), Advances in Civil Engineering (Wiley)</a:t>
            </a:r>
          </a:p>
          <a:p>
            <a:pPr marL="342900" lvl="0" indent="-342900">
              <a:buFont typeface="Arial" panose="020B0604020202020204" pitchFamily="34" charset="0"/>
              <a:buChar char="•"/>
            </a:pPr>
            <a:r>
              <a:rPr lang="en-IN" dirty="0"/>
              <a:t>Enhanced </a:t>
            </a:r>
            <a:r>
              <a:rPr lang="en-IN" b="1" dirty="0"/>
              <a:t>YOLO</a:t>
            </a:r>
            <a:r>
              <a:rPr lang="en-IN" dirty="0"/>
              <a:t>-based model for automatic pothole detection</a:t>
            </a:r>
          </a:p>
          <a:p>
            <a:pPr marL="342900" lvl="0" indent="-342900">
              <a:buFont typeface="Arial" panose="020B0604020202020204" pitchFamily="34" charset="0"/>
              <a:buChar char="•"/>
            </a:pPr>
            <a:r>
              <a:rPr lang="en-IN" b="1" dirty="0"/>
              <a:t>Xception</a:t>
            </a:r>
            <a:r>
              <a:rPr lang="en-IN" dirty="0"/>
              <a:t> backbone combined with </a:t>
            </a:r>
            <a:r>
              <a:rPr lang="en-IN" b="1" dirty="0"/>
              <a:t>CBAM attention</a:t>
            </a:r>
          </a:p>
          <a:p>
            <a:pPr marL="342900" lvl="0" indent="-342900">
              <a:buFont typeface="Arial" panose="020B0604020202020204" pitchFamily="34" charset="0"/>
              <a:buChar char="•"/>
            </a:pPr>
            <a:r>
              <a:rPr lang="en-IN" b="1" dirty="0"/>
              <a:t>Depthwise separable convolutions</a:t>
            </a:r>
            <a:r>
              <a:rPr lang="en-IN" dirty="0"/>
              <a:t> to cut computation cost</a:t>
            </a:r>
          </a:p>
          <a:p>
            <a:pPr marL="342900" lvl="0" indent="-342900">
              <a:buFont typeface="Arial" panose="020B0604020202020204" pitchFamily="34" charset="0"/>
              <a:buChar char="•"/>
            </a:pPr>
            <a:r>
              <a:rPr lang="en-IN" dirty="0"/>
              <a:t>Computer vision techniques for </a:t>
            </a:r>
            <a:r>
              <a:rPr lang="en-IN" b="1" dirty="0"/>
              <a:t>pothole area estimation</a:t>
            </a:r>
          </a:p>
        </p:txBody>
      </p:sp>
    </p:spTree>
    <p:extLst>
      <p:ext uri="{BB962C8B-B14F-4D97-AF65-F5344CB8AC3E}">
        <p14:creationId xmlns:p14="http://schemas.microsoft.com/office/powerpoint/2010/main" val="2826065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b="1" dirty="0">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b="1" dirty="0"/>
              <a:t>Pothole Detection and Assessment on Highways Using Enhanced YOLO Algorithm With Attention Mechanisms</a:t>
            </a:r>
            <a:br>
              <a:rPr lang="en-US" sz="1400" dirty="0"/>
            </a:br>
            <a:r>
              <a:rPr lang="en-US" sz="1400" i="1" dirty="0"/>
              <a:t>R. Rubin et al. (2025) | Advances in Civil Engineering | Published by Hindawi (Wiley)</a:t>
            </a:r>
            <a:endParaRPr lang="en-IN" sz="1400" dirty="0"/>
          </a:p>
        </p:txBody>
      </p:sp>
      <p:sp>
        <p:nvSpPr>
          <p:cNvPr id="8" name="TextBox 7">
            <a:extLst>
              <a:ext uri="{FF2B5EF4-FFF2-40B4-BE49-F238E27FC236}">
                <a16:creationId xmlns:a16="http://schemas.microsoft.com/office/drawing/2014/main" id="{0A790332-9C6A-6E30-B7C8-59E5C213EAFF}"/>
              </a:ext>
            </a:extLst>
          </p:cNvPr>
          <p:cNvSpPr txBox="1"/>
          <p:nvPr/>
        </p:nvSpPr>
        <p:spPr>
          <a:xfrm>
            <a:off x="498987" y="1677833"/>
            <a:ext cx="8141160" cy="3693319"/>
          </a:xfrm>
          <a:prstGeom prst="rect">
            <a:avLst/>
          </a:prstGeom>
          <a:noFill/>
        </p:spPr>
        <p:txBody>
          <a:bodyPr wrap="square">
            <a:spAutoFit/>
          </a:bodyPr>
          <a:lstStyle/>
          <a:p>
            <a:pPr>
              <a:buNone/>
            </a:pPr>
            <a:r>
              <a:rPr lang="en-IN" b="1" dirty="0"/>
              <a:t>Data &amp; Setup</a:t>
            </a:r>
          </a:p>
          <a:p>
            <a:pPr>
              <a:buNone/>
            </a:pPr>
            <a:endParaRPr lang="en-IN" b="1" dirty="0"/>
          </a:p>
          <a:p>
            <a:pPr marL="342900" lvl="0" indent="-342900">
              <a:buFont typeface="Arial" panose="020B0604020202020204" pitchFamily="34" charset="0"/>
              <a:buChar char="•"/>
            </a:pPr>
            <a:r>
              <a:rPr lang="en-IN" dirty="0"/>
              <a:t>Custom mixed dataset: </a:t>
            </a:r>
            <a:r>
              <a:rPr lang="en-IN" b="1" dirty="0"/>
              <a:t>MakeML (665)</a:t>
            </a:r>
            <a:r>
              <a:rPr lang="en-IN" dirty="0"/>
              <a:t>, two in-car videos (</a:t>
            </a:r>
            <a:r>
              <a:rPr lang="en-IN" b="1" dirty="0"/>
              <a:t>432 + 252</a:t>
            </a:r>
            <a:r>
              <a:rPr lang="en-IN" dirty="0"/>
              <a:t>), </a:t>
            </a:r>
            <a:r>
              <a:rPr lang="en-IN" b="1" dirty="0"/>
              <a:t>Kaggle (500)</a:t>
            </a:r>
            <a:r>
              <a:rPr lang="en-IN" dirty="0"/>
              <a:t> — </a:t>
            </a:r>
            <a:r>
              <a:rPr lang="en-IN" b="1" dirty="0"/>
              <a:t>1,849 images</a:t>
            </a:r>
          </a:p>
          <a:p>
            <a:pPr marL="342900" lvl="0" indent="-342900">
              <a:buFont typeface="Arial" panose="020B0604020202020204" pitchFamily="34" charset="0"/>
              <a:buChar char="•"/>
            </a:pPr>
            <a:r>
              <a:rPr lang="en-IN" dirty="0"/>
              <a:t>Real-time footage of </a:t>
            </a:r>
            <a:r>
              <a:rPr lang="en-IN" b="1" dirty="0"/>
              <a:t>Kerala roadways</a:t>
            </a:r>
            <a:r>
              <a:rPr lang="en-IN" dirty="0"/>
              <a:t>, varied illumination, annotated in Roboflow</a:t>
            </a:r>
          </a:p>
          <a:p>
            <a:pPr marL="342900" lvl="0" indent="-342900">
              <a:buFont typeface="Arial" panose="020B0604020202020204" pitchFamily="34" charset="0"/>
              <a:buChar char="•"/>
            </a:pPr>
            <a:r>
              <a:rPr lang="en-IN" dirty="0"/>
              <a:t>Data diversification raised the set to </a:t>
            </a:r>
            <a:r>
              <a:rPr lang="en-IN" b="1" dirty="0"/>
              <a:t>3,698</a:t>
            </a:r>
            <a:r>
              <a:rPr lang="en-IN" dirty="0"/>
              <a:t>, split </a:t>
            </a:r>
            <a:r>
              <a:rPr lang="en-IN" b="1" dirty="0"/>
              <a:t>70% / 20% / 10%</a:t>
            </a:r>
          </a:p>
          <a:p>
            <a:pPr marL="342900" lvl="0" indent="-342900">
              <a:buFont typeface="Arial" panose="020B0604020202020204" pitchFamily="34" charset="0"/>
              <a:buChar char="•"/>
            </a:pPr>
            <a:r>
              <a:rPr lang="en-IN" dirty="0"/>
              <a:t>Training on Google Colab (PyTorch): </a:t>
            </a:r>
            <a:r>
              <a:rPr lang="en-IN" b="1" dirty="0"/>
              <a:t>200 epochs</a:t>
            </a:r>
            <a:r>
              <a:rPr lang="en-IN" dirty="0"/>
              <a:t>, SGD, batch 8, momentum 0.9</a:t>
            </a:r>
          </a:p>
          <a:p>
            <a:pPr marL="342900" lvl="0" indent="-342900">
              <a:buFont typeface="Arial" panose="020B0604020202020204" pitchFamily="34" charset="0"/>
              <a:buChar char="•"/>
            </a:pPr>
            <a:r>
              <a:rPr lang="en-IN" dirty="0"/>
              <a:t>Evaluated using </a:t>
            </a:r>
            <a:r>
              <a:rPr lang="en-IN" b="1" dirty="0"/>
              <a:t>mAP, AP, precision and IoU</a:t>
            </a:r>
          </a:p>
        </p:txBody>
      </p:sp>
    </p:spTree>
    <p:extLst>
      <p:ext uri="{BB962C8B-B14F-4D97-AF65-F5344CB8AC3E}">
        <p14:creationId xmlns:p14="http://schemas.microsoft.com/office/powerpoint/2010/main" val="3876127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b="1" dirty="0">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b="1" dirty="0"/>
              <a:t>Pothole Detection and Assessment on Highways Using Enhanced YOLO Algorithm With Attention Mechanisms</a:t>
            </a:r>
            <a:br>
              <a:rPr lang="en-US" sz="1400" dirty="0"/>
            </a:br>
            <a:r>
              <a:rPr lang="en-US" sz="1400" i="1" dirty="0"/>
              <a:t>R. Rubin et al. (2025) | Advances in Civil Engineering | Published by Hindawi (Wiley)</a:t>
            </a:r>
            <a:endParaRPr lang="en-IN" sz="1400" dirty="0"/>
          </a:p>
        </p:txBody>
      </p:sp>
      <p:sp>
        <p:nvSpPr>
          <p:cNvPr id="8" name="TextBox 7">
            <a:extLst>
              <a:ext uri="{FF2B5EF4-FFF2-40B4-BE49-F238E27FC236}">
                <a16:creationId xmlns:a16="http://schemas.microsoft.com/office/drawing/2014/main" id="{CEE3078C-0550-C6BD-C37A-C32BB8314775}"/>
              </a:ext>
            </a:extLst>
          </p:cNvPr>
          <p:cNvSpPr txBox="1"/>
          <p:nvPr/>
        </p:nvSpPr>
        <p:spPr>
          <a:xfrm>
            <a:off x="498987" y="1677833"/>
            <a:ext cx="8272417" cy="2585323"/>
          </a:xfrm>
          <a:prstGeom prst="rect">
            <a:avLst/>
          </a:prstGeom>
          <a:noFill/>
        </p:spPr>
        <p:txBody>
          <a:bodyPr wrap="square">
            <a:spAutoFit/>
          </a:bodyPr>
          <a:lstStyle/>
          <a:p>
            <a:pPr>
              <a:buNone/>
            </a:pPr>
            <a:r>
              <a:rPr lang="en-IN" b="1" dirty="0"/>
              <a:t>Key Results</a:t>
            </a:r>
          </a:p>
          <a:p>
            <a:pPr>
              <a:buNone/>
            </a:pPr>
            <a:endParaRPr lang="en-IN" b="1" dirty="0"/>
          </a:p>
          <a:p>
            <a:pPr marL="342900" lvl="0" indent="-342900">
              <a:buFont typeface="Arial" panose="020B0604020202020204" pitchFamily="34" charset="0"/>
              <a:buChar char="•"/>
            </a:pPr>
            <a:r>
              <a:rPr lang="en-IN" dirty="0"/>
              <a:t>Xception-CBAM: </a:t>
            </a:r>
            <a:r>
              <a:rPr lang="en-IN" b="1" dirty="0"/>
              <a:t>train mAP 99% | test mAP 97–98% | IoU 0.86</a:t>
            </a:r>
          </a:p>
          <a:p>
            <a:pPr marL="342900" lvl="0" indent="-342900">
              <a:buFont typeface="Arial" panose="020B0604020202020204" pitchFamily="34" charset="0"/>
              <a:buChar char="•"/>
            </a:pPr>
            <a:r>
              <a:rPr lang="en-IN" dirty="0"/>
              <a:t>Best overall result reported as </a:t>
            </a:r>
            <a:r>
              <a:rPr lang="en-IN" b="1" dirty="0"/>
              <a:t>99.21% mAP</a:t>
            </a:r>
            <a:r>
              <a:rPr lang="en-IN" dirty="0"/>
              <a:t> vs state-of-the-art methods</a:t>
            </a:r>
          </a:p>
          <a:p>
            <a:pPr marL="342900" lvl="0" indent="-342900">
              <a:buFont typeface="Arial" panose="020B0604020202020204" pitchFamily="34" charset="0"/>
              <a:buChar char="•"/>
            </a:pPr>
            <a:r>
              <a:rPr lang="en-IN" dirty="0"/>
              <a:t>MakeML dataset: </a:t>
            </a:r>
            <a:r>
              <a:rPr lang="en-IN" b="1" dirty="0"/>
              <a:t>99% mAP</a:t>
            </a:r>
            <a:r>
              <a:rPr lang="en-IN" dirty="0"/>
              <a:t> vs </a:t>
            </a:r>
            <a:r>
              <a:rPr lang="en-IN" b="1" dirty="0"/>
              <a:t>54%</a:t>
            </a:r>
            <a:r>
              <a:rPr lang="en-IN" dirty="0"/>
              <a:t> (YOLO-V1) and </a:t>
            </a:r>
            <a:r>
              <a:rPr lang="en-IN" b="1" dirty="0"/>
              <a:t>64%</a:t>
            </a:r>
            <a:r>
              <a:rPr lang="en-IN" dirty="0"/>
              <a:t> (YOLO-V3)</a:t>
            </a:r>
          </a:p>
          <a:p>
            <a:pPr marL="342900" lvl="0" indent="-342900">
              <a:buFont typeface="Arial" panose="020B0604020202020204" pitchFamily="34" charset="0"/>
              <a:buChar char="•"/>
            </a:pPr>
            <a:r>
              <a:rPr lang="en-IN" dirty="0"/>
              <a:t>Inference time </a:t>
            </a:r>
            <a:r>
              <a:rPr lang="en-IN" b="1" dirty="0"/>
              <a:t>0.028 s per image</a:t>
            </a:r>
            <a:r>
              <a:rPr lang="en-IN" dirty="0"/>
              <a:t> (YOLOv5 ≈ 0.007 s) — real-time capable</a:t>
            </a:r>
          </a:p>
          <a:p>
            <a:pPr marL="342900" lvl="0" indent="-342900">
              <a:buFont typeface="Arial" panose="020B0604020202020204" pitchFamily="34" charset="0"/>
              <a:buChar char="•"/>
            </a:pPr>
            <a:r>
              <a:rPr lang="en-IN" dirty="0"/>
              <a:t>Area estimated in cm² from pixel count without box-collision issues</a:t>
            </a:r>
          </a:p>
        </p:txBody>
      </p:sp>
    </p:spTree>
    <p:extLst>
      <p:ext uri="{BB962C8B-B14F-4D97-AF65-F5344CB8AC3E}">
        <p14:creationId xmlns:p14="http://schemas.microsoft.com/office/powerpoint/2010/main" val="2206479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b="1" dirty="0">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b="1" dirty="0"/>
              <a:t>Pothole Detection and Assessment on Highways Using Enhanced YOLO Algorithm With Attention Mechanisms</a:t>
            </a:r>
            <a:br>
              <a:rPr lang="en-US" sz="1400" dirty="0"/>
            </a:br>
            <a:r>
              <a:rPr lang="en-US" sz="1400" i="1" dirty="0"/>
              <a:t>R. Rubin et al. (2025) | Advances in Civil Engineering | Published by Hindawi (Wiley)</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High detection accuracy using </a:t>
            </a:r>
            <a:r>
              <a:rPr lang="en-IN" b="1" dirty="0">
                <a:solidFill>
                  <a:schemeClr val="tx1"/>
                </a:solidFill>
              </a:rPr>
              <a:t>Xception-CBAM</a:t>
            </a:r>
          </a:p>
          <a:p>
            <a:pPr marL="342900" lvl="0" indent="-342900">
              <a:buFont typeface="Arial" panose="020B0604020202020204" pitchFamily="34" charset="0"/>
              <a:buChar char="•"/>
            </a:pPr>
            <a:r>
              <a:rPr lang="en-IN" dirty="0">
                <a:solidFill>
                  <a:schemeClr val="tx1"/>
                </a:solidFill>
              </a:rPr>
              <a:t>Attention focuses on important </a:t>
            </a:r>
            <a:r>
              <a:rPr lang="en-IN" b="1" dirty="0">
                <a:solidFill>
                  <a:schemeClr val="tx1"/>
                </a:solidFill>
              </a:rPr>
              <a:t>pothole regions</a:t>
            </a:r>
          </a:p>
          <a:p>
            <a:pPr marL="342900" lvl="0" indent="-342900">
              <a:buFont typeface="Arial" panose="020B0604020202020204" pitchFamily="34" charset="0"/>
              <a:buChar char="•"/>
            </a:pPr>
            <a:r>
              <a:rPr lang="en-IN" dirty="0">
                <a:solidFill>
                  <a:schemeClr val="tx1"/>
                </a:solidFill>
              </a:rPr>
              <a:t>Supports </a:t>
            </a:r>
            <a:r>
              <a:rPr lang="en-IN" b="1" dirty="0">
                <a:solidFill>
                  <a:schemeClr val="tx1"/>
                </a:solidFill>
              </a:rPr>
              <a:t>area estimation</a:t>
            </a:r>
            <a:r>
              <a:rPr lang="en-IN" dirty="0">
                <a:solidFill>
                  <a:schemeClr val="tx1"/>
                </a:solidFill>
              </a:rPr>
              <a:t> along with detection</a:t>
            </a:r>
          </a:p>
          <a:p>
            <a:pPr marL="342900" lvl="0" indent="-342900">
              <a:buFont typeface="Arial" panose="020B0604020202020204" pitchFamily="34" charset="0"/>
              <a:buChar char="•"/>
            </a:pPr>
            <a:r>
              <a:rPr lang="en-IN" dirty="0">
                <a:solidFill>
                  <a:schemeClr val="tx1"/>
                </a:solidFill>
              </a:rPr>
              <a:t>Fast enough (</a:t>
            </a:r>
            <a:r>
              <a:rPr lang="en-IN" b="1" dirty="0">
                <a:solidFill>
                  <a:schemeClr val="tx1"/>
                </a:solidFill>
              </a:rPr>
              <a:t>0.028 s/image</a:t>
            </a:r>
            <a:r>
              <a:rPr lang="en-IN" dirty="0">
                <a:solidFill>
                  <a:schemeClr val="tx1"/>
                </a:solidFill>
              </a:rPr>
              <a:t>) for real-time use</a:t>
            </a: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Focuses </a:t>
            </a:r>
            <a:r>
              <a:rPr lang="en-IN" b="1" dirty="0">
                <a:solidFill>
                  <a:schemeClr val="tx1"/>
                </a:solidFill>
              </a:rPr>
              <a:t>only on pothole detection</a:t>
            </a:r>
          </a:p>
          <a:p>
            <a:pPr marL="342900" lvl="0" indent="-342900">
              <a:buFont typeface="Arial" panose="020B0604020202020204" pitchFamily="34" charset="0"/>
              <a:buChar char="•"/>
            </a:pPr>
            <a:r>
              <a:rPr lang="en-IN" dirty="0">
                <a:solidFill>
                  <a:schemeClr val="tx1"/>
                </a:solidFill>
              </a:rPr>
              <a:t>Pothole </a:t>
            </a:r>
            <a:r>
              <a:rPr lang="en-IN" b="1" dirty="0">
                <a:solidFill>
                  <a:schemeClr val="tx1"/>
                </a:solidFill>
              </a:rPr>
              <a:t>depth measurement</a:t>
            </a:r>
            <a:r>
              <a:rPr lang="en-IN" dirty="0">
                <a:solidFill>
                  <a:schemeClr val="tx1"/>
                </a:solidFill>
              </a:rPr>
              <a:t> left as future work</a:t>
            </a:r>
          </a:p>
          <a:p>
            <a:pPr marL="342900" lvl="0" indent="-342900">
              <a:buFont typeface="Arial" panose="020B0604020202020204" pitchFamily="34" charset="0"/>
              <a:buChar char="•"/>
            </a:pPr>
            <a:r>
              <a:rPr lang="en-IN" dirty="0">
                <a:solidFill>
                  <a:schemeClr val="tx1"/>
                </a:solidFill>
              </a:rPr>
              <a:t>Needs wider road conditions for </a:t>
            </a:r>
            <a:r>
              <a:rPr lang="en-IN" b="1" dirty="0">
                <a:solidFill>
                  <a:schemeClr val="tx1"/>
                </a:solidFill>
              </a:rPr>
              <a:t>generalization</a:t>
            </a:r>
          </a:p>
          <a:p>
            <a:pPr marL="342900" lvl="0" indent="-342900">
              <a:buFont typeface="Arial" panose="020B0604020202020204" pitchFamily="34" charset="0"/>
              <a:buChar char="•"/>
            </a:pPr>
            <a:r>
              <a:rPr lang="en-IN" dirty="0">
                <a:solidFill>
                  <a:schemeClr val="tx1"/>
                </a:solidFill>
              </a:rPr>
              <a:t>No driver-level </a:t>
            </a:r>
            <a:r>
              <a:rPr lang="en-IN" b="1" dirty="0">
                <a:solidFill>
                  <a:schemeClr val="tx1"/>
                </a:solidFill>
              </a:rPr>
              <a:t>risk assessment</a:t>
            </a:r>
            <a:r>
              <a:rPr lang="en-IN" dirty="0">
                <a:solidFill>
                  <a:schemeClr val="tx1"/>
                </a:solidFill>
              </a:rPr>
              <a:t> or decision support</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3421589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b="1" dirty="0">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b="1" dirty="0"/>
              <a:t>Pothole Detection and Assessment on Highways Using Enhanced YOLO Algorithm With Attention Mechanisms</a:t>
            </a:r>
            <a:br>
              <a:rPr lang="en-US" sz="1400" dirty="0"/>
            </a:br>
            <a:r>
              <a:rPr lang="en-US" sz="1400" i="1" dirty="0"/>
              <a:t>R. Rubin et al. (2025) | Advances in Civil Engineering | Published by Hindawi (Wiley)</a:t>
            </a:r>
            <a:endParaRPr lang="en-IN" sz="1400" dirty="0"/>
          </a:p>
        </p:txBody>
      </p:sp>
      <p:sp>
        <p:nvSpPr>
          <p:cNvPr id="8" name="TextBox 7">
            <a:extLst>
              <a:ext uri="{FF2B5EF4-FFF2-40B4-BE49-F238E27FC236}">
                <a16:creationId xmlns:a16="http://schemas.microsoft.com/office/drawing/2014/main" id="{68F95F7E-46B8-D909-CD02-C9DC5F16FBF0}"/>
              </a:ext>
            </a:extLst>
          </p:cNvPr>
          <p:cNvSpPr txBox="1"/>
          <p:nvPr/>
        </p:nvSpPr>
        <p:spPr>
          <a:xfrm>
            <a:off x="498987" y="1821390"/>
            <a:ext cx="10361846" cy="2585323"/>
          </a:xfrm>
          <a:prstGeom prst="rect">
            <a:avLst/>
          </a:prstGeom>
          <a:noFill/>
        </p:spPr>
        <p:txBody>
          <a:bodyPr wrap="square">
            <a:spAutoFit/>
          </a:bodyPr>
          <a:lstStyle/>
          <a:p>
            <a:pPr>
              <a:buNone/>
            </a:pPr>
            <a:r>
              <a:rPr lang="en-IN" b="1" dirty="0"/>
              <a:t>Relevance to My Research</a:t>
            </a:r>
          </a:p>
          <a:p>
            <a:pPr>
              <a:buNone/>
            </a:pPr>
            <a:endParaRPr lang="en-IN" b="1" dirty="0"/>
          </a:p>
          <a:p>
            <a:pPr marL="342900" lvl="0" indent="-342900">
              <a:buFont typeface="Arial" panose="020B0604020202020204" pitchFamily="34" charset="0"/>
              <a:buChar char="•"/>
            </a:pPr>
            <a:r>
              <a:rPr lang="en-IN" dirty="0"/>
              <a:t>Confirms </a:t>
            </a:r>
            <a:r>
              <a:rPr lang="en-IN" b="1" dirty="0"/>
              <a:t>YOLO-based detection</a:t>
            </a:r>
            <a:r>
              <a:rPr lang="en-IN" dirty="0"/>
              <a:t> is effective for road hazards</a:t>
            </a:r>
          </a:p>
          <a:p>
            <a:pPr marL="342900" lvl="0" indent="-342900">
              <a:buFont typeface="Arial" panose="020B0604020202020204" pitchFamily="34" charset="0"/>
              <a:buChar char="•"/>
            </a:pPr>
            <a:r>
              <a:rPr lang="en-IN" dirty="0"/>
              <a:t>Attention mechanisms motivate better </a:t>
            </a:r>
            <a:r>
              <a:rPr lang="en-IN" b="1" dirty="0"/>
              <a:t>hazard feature focus</a:t>
            </a:r>
          </a:p>
          <a:p>
            <a:pPr marL="342900" lvl="0" indent="-342900">
              <a:buFont typeface="Arial" panose="020B0604020202020204" pitchFamily="34" charset="0"/>
              <a:buChar char="•"/>
            </a:pPr>
            <a:r>
              <a:rPr lang="en-IN" dirty="0"/>
              <a:t>Area estimation supports our </a:t>
            </a:r>
            <a:r>
              <a:rPr lang="en-IN" b="1" dirty="0"/>
              <a:t>hazard severity analysis</a:t>
            </a:r>
            <a:r>
              <a:rPr lang="en-IN" dirty="0"/>
              <a:t> module</a:t>
            </a:r>
          </a:p>
          <a:p>
            <a:pPr marL="342900" lvl="0" indent="-342900">
              <a:buFont typeface="Arial" panose="020B0604020202020204" pitchFamily="34" charset="0"/>
              <a:buChar char="•"/>
            </a:pPr>
            <a:r>
              <a:rPr lang="en-IN" dirty="0"/>
              <a:t>Single-hazard scope shows the need for </a:t>
            </a:r>
            <a:r>
              <a:rPr lang="en-IN" b="1" dirty="0"/>
              <a:t>multi-hazard detection</a:t>
            </a:r>
          </a:p>
          <a:p>
            <a:pPr marL="342900" lvl="0" indent="-342900">
              <a:buFont typeface="Arial" panose="020B0604020202020204" pitchFamily="34" charset="0"/>
              <a:buChar char="•"/>
            </a:pPr>
            <a:r>
              <a:rPr lang="en-IN" dirty="0"/>
              <a:t>RoadSense AI extends this to </a:t>
            </a:r>
            <a:r>
              <a:rPr lang="en-IN" b="1" dirty="0"/>
              <a:t>pedestrians, vehicles, cyclists and potholes</a:t>
            </a:r>
          </a:p>
        </p:txBody>
      </p:sp>
    </p:spTree>
    <p:extLst>
      <p:ext uri="{BB962C8B-B14F-4D97-AF65-F5344CB8AC3E}">
        <p14:creationId xmlns:p14="http://schemas.microsoft.com/office/powerpoint/2010/main" val="1218590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a:t>
            </a:r>
            <a:r>
              <a:rPr lang="en-IN" sz="1400" b="1" dirty="0"/>
              <a:t>QHAWAY: An Instance Segmentation and Monocular Distance Estimation ADAS for Vulnerable Road Users</a:t>
            </a:r>
            <a:br>
              <a:rPr lang="en-US" sz="1400" dirty="0"/>
            </a:br>
            <a:r>
              <a:rPr lang="en-US" sz="1400" i="1" dirty="0"/>
              <a:t>De la Cruz-Moran et al. (2026) | Sensors, 26, 2569 | Published by MDPI</a:t>
            </a:r>
            <a:endParaRPr lang="en-IN" sz="1400" dirty="0"/>
          </a:p>
        </p:txBody>
      </p:sp>
      <p:sp>
        <p:nvSpPr>
          <p:cNvPr id="8" name="TextBox 7">
            <a:extLst>
              <a:ext uri="{FF2B5EF4-FFF2-40B4-BE49-F238E27FC236}">
                <a16:creationId xmlns:a16="http://schemas.microsoft.com/office/drawing/2014/main" id="{302A6428-E33B-AFAD-9F82-9D05835E2826}"/>
              </a:ext>
            </a:extLst>
          </p:cNvPr>
          <p:cNvSpPr txBox="1"/>
          <p:nvPr/>
        </p:nvSpPr>
        <p:spPr>
          <a:xfrm>
            <a:off x="498987" y="1683506"/>
            <a:ext cx="7949681" cy="2585323"/>
          </a:xfrm>
          <a:prstGeom prst="rect">
            <a:avLst/>
          </a:prstGeom>
          <a:noFill/>
        </p:spPr>
        <p:txBody>
          <a:bodyPr wrap="square">
            <a:spAutoFit/>
          </a:bodyPr>
          <a:lstStyle/>
          <a:p>
            <a:pPr>
              <a:buNone/>
            </a:pPr>
            <a:r>
              <a:rPr lang="en-IN" b="1" dirty="0"/>
              <a:t>Proposed Method</a:t>
            </a:r>
          </a:p>
          <a:p>
            <a:pPr>
              <a:buNone/>
            </a:pPr>
            <a:endParaRPr lang="en-IN" b="1" dirty="0"/>
          </a:p>
          <a:p>
            <a:pPr marL="342900" lvl="0" indent="-342900">
              <a:buFont typeface="Arial" panose="020B0604020202020204" pitchFamily="34" charset="0"/>
              <a:buChar char="•"/>
            </a:pPr>
            <a:r>
              <a:rPr lang="en-IN" i="1" dirty="0"/>
              <a:t>De la Cruz-Moran et al. (2026), Sensors (MDPI)</a:t>
            </a:r>
          </a:p>
          <a:p>
            <a:pPr marL="342900" lvl="0" indent="-342900">
              <a:buFont typeface="Arial" panose="020B0604020202020204" pitchFamily="34" charset="0"/>
              <a:buChar char="•"/>
            </a:pPr>
            <a:r>
              <a:rPr lang="en-IN" b="1" dirty="0"/>
              <a:t>Monocular camera</a:t>
            </a:r>
            <a:r>
              <a:rPr lang="en-IN" dirty="0"/>
              <a:t> input for continuous road monitoring</a:t>
            </a:r>
          </a:p>
          <a:p>
            <a:pPr marL="342900" lvl="0" indent="-342900">
              <a:buFont typeface="Arial" panose="020B0604020202020204" pitchFamily="34" charset="0"/>
              <a:buChar char="•"/>
            </a:pPr>
            <a:r>
              <a:rPr lang="en-IN" b="1" dirty="0"/>
              <a:t>YOLO instance segmentation</a:t>
            </a:r>
            <a:r>
              <a:rPr lang="en-IN" dirty="0"/>
              <a:t> of road users and hazards</a:t>
            </a:r>
          </a:p>
          <a:p>
            <a:pPr marL="342900" lvl="0" indent="-342900">
              <a:buFont typeface="Arial" panose="020B0604020202020204" pitchFamily="34" charset="0"/>
              <a:buChar char="•"/>
            </a:pPr>
            <a:r>
              <a:rPr lang="en-IN" b="1" dirty="0"/>
              <a:t>ByteTrack</a:t>
            </a:r>
            <a:r>
              <a:rPr lang="en-IN" dirty="0"/>
              <a:t> maintains object identity across frames</a:t>
            </a:r>
          </a:p>
          <a:p>
            <a:pPr marL="342900" lvl="0" indent="-342900">
              <a:buFont typeface="Arial" panose="020B0604020202020204" pitchFamily="34" charset="0"/>
              <a:buChar char="•"/>
            </a:pPr>
            <a:r>
              <a:rPr lang="en-IN" b="1" dirty="0"/>
              <a:t>Pinhole camera model</a:t>
            </a:r>
            <a:r>
              <a:rPr lang="en-IN" dirty="0"/>
              <a:t> estimates object distance</a:t>
            </a:r>
          </a:p>
          <a:p>
            <a:pPr marL="342900" lvl="0" indent="-342900">
              <a:buFont typeface="Arial" panose="020B0604020202020204" pitchFamily="34" charset="0"/>
              <a:buChar char="•"/>
            </a:pPr>
            <a:r>
              <a:rPr lang="en-IN" b="1" dirty="0"/>
              <a:t>Time-to-Collision (TTC)</a:t>
            </a:r>
            <a:r>
              <a:rPr lang="en-IN" dirty="0"/>
              <a:t> and risk-zone classification</a:t>
            </a:r>
          </a:p>
        </p:txBody>
      </p:sp>
    </p:spTree>
    <p:extLst>
      <p:ext uri="{BB962C8B-B14F-4D97-AF65-F5344CB8AC3E}">
        <p14:creationId xmlns:p14="http://schemas.microsoft.com/office/powerpoint/2010/main" val="2669012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b="1" dirty="0">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a:t>
            </a:r>
            <a:r>
              <a:rPr lang="en-IN" sz="1400" b="1" dirty="0"/>
              <a:t>QHAWAY: An Instance Segmentation and Monocular Distance Estimation ADAS for Vulnerable Road Users</a:t>
            </a:r>
            <a:br>
              <a:rPr lang="en-US" sz="1400" dirty="0"/>
            </a:br>
            <a:r>
              <a:rPr lang="en-US" sz="1400" i="1" dirty="0"/>
              <a:t>De la Cruz-Moran et al. (2026) | Sensors, 26, 2569 | Published by MDPI</a:t>
            </a:r>
            <a:endParaRPr lang="en-IN" sz="1400" dirty="0"/>
          </a:p>
        </p:txBody>
      </p:sp>
      <p:sp>
        <p:nvSpPr>
          <p:cNvPr id="8" name="TextBox 7">
            <a:extLst>
              <a:ext uri="{FF2B5EF4-FFF2-40B4-BE49-F238E27FC236}">
                <a16:creationId xmlns:a16="http://schemas.microsoft.com/office/drawing/2014/main" id="{D4AAFC33-A199-C678-9DF5-2077F0CF27F9}"/>
              </a:ext>
            </a:extLst>
          </p:cNvPr>
          <p:cNvSpPr txBox="1"/>
          <p:nvPr/>
        </p:nvSpPr>
        <p:spPr>
          <a:xfrm>
            <a:off x="498987" y="1643683"/>
            <a:ext cx="7908523" cy="2862322"/>
          </a:xfrm>
          <a:prstGeom prst="rect">
            <a:avLst/>
          </a:prstGeom>
          <a:noFill/>
        </p:spPr>
        <p:txBody>
          <a:bodyPr wrap="square">
            <a:spAutoFit/>
          </a:bodyPr>
          <a:lstStyle/>
          <a:p>
            <a:pPr>
              <a:buNone/>
            </a:pPr>
            <a:r>
              <a:rPr lang="en-IN" b="1" dirty="0"/>
              <a:t>Data &amp; Setup</a:t>
            </a:r>
          </a:p>
          <a:p>
            <a:pPr>
              <a:buNone/>
            </a:pPr>
            <a:endParaRPr lang="en-IN" b="1" dirty="0"/>
          </a:p>
          <a:p>
            <a:pPr marL="342900" lvl="0" indent="-342900">
              <a:buFont typeface="Arial" panose="020B0604020202020204" pitchFamily="34" charset="0"/>
              <a:buChar char="•"/>
            </a:pPr>
            <a:r>
              <a:rPr lang="en-IN" dirty="0"/>
              <a:t>Hybrid dataset: </a:t>
            </a:r>
            <a:r>
              <a:rPr lang="en-IN" b="1" dirty="0"/>
              <a:t>25,602 images, 127,525 instances, 12 classes</a:t>
            </a:r>
          </a:p>
          <a:p>
            <a:pPr marL="342900" lvl="0" indent="-342900">
              <a:buFont typeface="Arial" panose="020B0604020202020204" pitchFamily="34" charset="0"/>
              <a:buChar char="•"/>
            </a:pPr>
            <a:r>
              <a:rPr lang="en-IN" dirty="0"/>
              <a:t>Local Ayacucho collection </a:t>
            </a:r>
            <a:r>
              <a:rPr lang="en-IN" b="1" dirty="0"/>
              <a:t>4,598 images</a:t>
            </a:r>
            <a:r>
              <a:rPr lang="en-IN" dirty="0"/>
              <a:t>; BDD100K, BSTLD and RLMD </a:t>
            </a:r>
            <a:r>
              <a:rPr lang="en-IN" b="1" dirty="0"/>
              <a:t>21,004 images</a:t>
            </a:r>
          </a:p>
          <a:p>
            <a:pPr marL="342900" lvl="0" indent="-342900">
              <a:buFont typeface="Arial" panose="020B0604020202020204" pitchFamily="34" charset="0"/>
              <a:buChar char="•"/>
            </a:pPr>
            <a:r>
              <a:rPr lang="en-IN" dirty="0"/>
              <a:t>Split </a:t>
            </a:r>
            <a:r>
              <a:rPr lang="en-IN" b="1" dirty="0"/>
              <a:t>70% train / 20% validation / 10% test</a:t>
            </a:r>
          </a:p>
          <a:p>
            <a:pPr marL="342900" lvl="0" indent="-342900">
              <a:buFont typeface="Arial" panose="020B0604020202020204" pitchFamily="34" charset="0"/>
              <a:buChar char="•"/>
            </a:pPr>
            <a:r>
              <a:rPr lang="en-IN" dirty="0"/>
              <a:t>Three-phase progressive training: </a:t>
            </a:r>
            <a:r>
              <a:rPr lang="en-IN" b="1" dirty="0"/>
              <a:t>640 → 800 → 1024 px</a:t>
            </a:r>
            <a:r>
              <a:rPr lang="en-IN" dirty="0"/>
              <a:t>; </a:t>
            </a:r>
            <a:r>
              <a:rPr lang="en-IN" b="1" dirty="0"/>
              <a:t>YOLOv8L-seg</a:t>
            </a:r>
            <a:r>
              <a:rPr lang="en-IN" dirty="0"/>
              <a:t> on RTX 5080</a:t>
            </a:r>
          </a:p>
          <a:p>
            <a:pPr marL="342900" lvl="0" indent="-342900">
              <a:buFont typeface="Arial" panose="020B0604020202020204" pitchFamily="34" charset="0"/>
              <a:buChar char="•"/>
            </a:pPr>
            <a:r>
              <a:rPr lang="en-IN" dirty="0"/>
              <a:t>Risk zones: danger </a:t>
            </a:r>
            <a:r>
              <a:rPr lang="en-IN" b="1" dirty="0"/>
              <a:t>&lt; 3 m</a:t>
            </a:r>
            <a:r>
              <a:rPr lang="en-IN" dirty="0"/>
              <a:t>, caution </a:t>
            </a:r>
            <a:r>
              <a:rPr lang="en-IN" b="1" dirty="0"/>
              <a:t>3–7 m</a:t>
            </a:r>
            <a:r>
              <a:rPr lang="en-IN" dirty="0"/>
              <a:t>, TTC threshold </a:t>
            </a:r>
            <a:r>
              <a:rPr lang="en-IN" b="1" dirty="0"/>
              <a:t>≤ 2.4 s</a:t>
            </a:r>
            <a:r>
              <a:rPr lang="en-IN" dirty="0"/>
              <a:t> (NHTSA)</a:t>
            </a:r>
          </a:p>
        </p:txBody>
      </p:sp>
    </p:spTree>
    <p:extLst>
      <p:ext uri="{BB962C8B-B14F-4D97-AF65-F5344CB8AC3E}">
        <p14:creationId xmlns:p14="http://schemas.microsoft.com/office/powerpoint/2010/main" val="3981910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b="1" dirty="0">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a:t>
            </a:r>
            <a:r>
              <a:rPr lang="en-IN" sz="1400" b="1" dirty="0"/>
              <a:t>QHAWAY: An Instance Segmentation and Monocular Distance Estimation ADAS for Vulnerable Road Users</a:t>
            </a:r>
            <a:br>
              <a:rPr lang="en-US" sz="1400" dirty="0"/>
            </a:br>
            <a:r>
              <a:rPr lang="en-US" sz="1400" i="1" dirty="0"/>
              <a:t>De la Cruz-Moran et al. (2026) | Sensors, 26, 2569 | Published by MDPI</a:t>
            </a:r>
            <a:endParaRPr lang="en-IN" sz="1400" dirty="0"/>
          </a:p>
        </p:txBody>
      </p:sp>
      <p:sp>
        <p:nvSpPr>
          <p:cNvPr id="10" name="TextBox 9">
            <a:extLst>
              <a:ext uri="{FF2B5EF4-FFF2-40B4-BE49-F238E27FC236}">
                <a16:creationId xmlns:a16="http://schemas.microsoft.com/office/drawing/2014/main" id="{D242B98C-DBD1-14BA-4B1A-AF0889E368DE}"/>
              </a:ext>
            </a:extLst>
          </p:cNvPr>
          <p:cNvSpPr txBox="1"/>
          <p:nvPr/>
        </p:nvSpPr>
        <p:spPr>
          <a:xfrm>
            <a:off x="498987" y="1741384"/>
            <a:ext cx="10147242" cy="2585323"/>
          </a:xfrm>
          <a:prstGeom prst="rect">
            <a:avLst/>
          </a:prstGeom>
          <a:noFill/>
        </p:spPr>
        <p:txBody>
          <a:bodyPr wrap="square">
            <a:spAutoFit/>
          </a:bodyPr>
          <a:lstStyle/>
          <a:p>
            <a:pPr>
              <a:buNone/>
            </a:pPr>
            <a:r>
              <a:rPr lang="en-IN" b="1" dirty="0"/>
              <a:t>Key Results</a:t>
            </a:r>
          </a:p>
          <a:p>
            <a:pPr>
              <a:buNone/>
            </a:pPr>
            <a:endParaRPr lang="en-IN" b="1" dirty="0"/>
          </a:p>
          <a:p>
            <a:pPr marL="342900" lvl="0" indent="-342900">
              <a:buFont typeface="Arial" panose="020B0604020202020204" pitchFamily="34" charset="0"/>
              <a:buChar char="•"/>
            </a:pPr>
            <a:r>
              <a:rPr lang="en-IN" dirty="0"/>
              <a:t>YOLOv8L-seg: </a:t>
            </a:r>
            <a:r>
              <a:rPr lang="en-IN" b="1" dirty="0"/>
              <a:t>mAP50 Box 0.810 | Mask 0.778</a:t>
            </a:r>
            <a:r>
              <a:rPr lang="en-IN" dirty="0"/>
              <a:t> (precision 0.885)</a:t>
            </a:r>
          </a:p>
          <a:p>
            <a:pPr marL="342900" lvl="0" indent="-342900">
              <a:buFont typeface="Arial" panose="020B0604020202020204" pitchFamily="34" charset="0"/>
              <a:buChar char="•"/>
            </a:pPr>
            <a:r>
              <a:rPr lang="en-IN" dirty="0"/>
              <a:t>YOLO26L-seg best overall: </a:t>
            </a:r>
            <a:r>
              <a:rPr lang="en-IN" b="1" dirty="0"/>
              <a:t>mAP50 Box 0.829 | Mask 0.788</a:t>
            </a:r>
          </a:p>
          <a:p>
            <a:pPr marL="342900" lvl="0" indent="-342900">
              <a:buFont typeface="Arial" panose="020B0604020202020204" pitchFamily="34" charset="0"/>
              <a:buChar char="•"/>
            </a:pPr>
            <a:r>
              <a:rPr lang="en-IN" dirty="0"/>
              <a:t>Per class: </a:t>
            </a:r>
            <a:r>
              <a:rPr lang="en-IN" b="1" dirty="0"/>
              <a:t>speed bump 0.923</a:t>
            </a:r>
            <a:r>
              <a:rPr lang="en-IN" dirty="0"/>
              <a:t>, person 0.866, </a:t>
            </a:r>
            <a:r>
              <a:rPr lang="en-IN" b="1" dirty="0"/>
              <a:t>mototaxi 0.769</a:t>
            </a:r>
            <a:r>
              <a:rPr lang="en-IN" dirty="0"/>
              <a:t> (first such benchmark)</a:t>
            </a:r>
          </a:p>
          <a:p>
            <a:pPr marL="342900" lvl="0" indent="-342900">
              <a:buFont typeface="Arial" panose="020B0604020202020204" pitchFamily="34" charset="0"/>
              <a:buChar char="•"/>
            </a:pPr>
            <a:r>
              <a:rPr lang="en-IN" dirty="0"/>
              <a:t>Real-time </a:t>
            </a:r>
            <a:r>
              <a:rPr lang="en-IN" b="1" dirty="0"/>
              <a:t>19.2–25.4 FPS</a:t>
            </a:r>
            <a:r>
              <a:rPr lang="en-IN" dirty="0"/>
              <a:t>, latency </a:t>
            </a:r>
            <a:r>
              <a:rPr lang="en-IN" b="1" dirty="0"/>
              <a:t>18–19 ms</a:t>
            </a:r>
            <a:r>
              <a:rPr lang="en-IN" dirty="0"/>
              <a:t> per frame</a:t>
            </a:r>
          </a:p>
          <a:p>
            <a:pPr marL="342900" lvl="0" indent="-342900">
              <a:buFont typeface="Arial" panose="020B0604020202020204" pitchFamily="34" charset="0"/>
              <a:buChar char="•"/>
            </a:pPr>
            <a:r>
              <a:rPr lang="en-IN" dirty="0"/>
              <a:t>Field survey: </a:t>
            </a:r>
            <a:r>
              <a:rPr lang="en-IN" b="1" dirty="0"/>
              <a:t>96% of speed bumps</a:t>
            </a:r>
            <a:r>
              <a:rPr lang="en-IN" dirty="0"/>
              <a:t> violate MTC Directive 01-2011-MTC/14</a:t>
            </a:r>
          </a:p>
        </p:txBody>
      </p:sp>
    </p:spTree>
    <p:extLst>
      <p:ext uri="{BB962C8B-B14F-4D97-AF65-F5344CB8AC3E}">
        <p14:creationId xmlns:p14="http://schemas.microsoft.com/office/powerpoint/2010/main" val="3167751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b="1" dirty="0">
                <a:latin typeface="Times New Roman" panose="02020603050405020304" pitchFamily="18" charset="0"/>
                <a:cs typeface="Times New Roman" panose="02020603050405020304" pitchFamily="18" charset="0"/>
              </a:rPr>
              <a:t>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a:t>
            </a:r>
            <a:r>
              <a:rPr lang="en-IN" sz="1400" b="1" dirty="0"/>
              <a:t>QHAWAY: An Instance Segmentation and Monocular Distance Estimation ADAS for Vulnerable Road Users</a:t>
            </a:r>
            <a:br>
              <a:rPr lang="en-US" sz="1400" dirty="0"/>
            </a:br>
            <a:r>
              <a:rPr lang="en-US" sz="1400" i="1" dirty="0"/>
              <a:t>De la Cruz-Moran et al. (2026) | Sensors, 26, 2569 | Published by MDPI</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Integrates </a:t>
            </a:r>
            <a:r>
              <a:rPr lang="en-IN" b="1" dirty="0">
                <a:solidFill>
                  <a:schemeClr val="tx1"/>
                </a:solidFill>
              </a:rPr>
              <a:t>segmentation, tracking, distance and TTC</a:t>
            </a:r>
          </a:p>
          <a:p>
            <a:pPr marL="342900" lvl="0" indent="-342900">
              <a:buFont typeface="Arial" panose="020B0604020202020204" pitchFamily="34" charset="0"/>
              <a:buChar char="•"/>
            </a:pPr>
            <a:r>
              <a:rPr lang="en-IN" dirty="0">
                <a:solidFill>
                  <a:schemeClr val="tx1"/>
                </a:solidFill>
              </a:rPr>
              <a:t>Supports </a:t>
            </a:r>
            <a:r>
              <a:rPr lang="en-IN" b="1" dirty="0">
                <a:solidFill>
                  <a:schemeClr val="tx1"/>
                </a:solidFill>
              </a:rPr>
              <a:t>multi-hazard</a:t>
            </a:r>
            <a:r>
              <a:rPr lang="en-IN" dirty="0">
                <a:solidFill>
                  <a:schemeClr val="tx1"/>
                </a:solidFill>
              </a:rPr>
              <a:t> and vulnerable road-user detection</a:t>
            </a:r>
          </a:p>
          <a:p>
            <a:pPr marL="342900" lvl="0" indent="-342900">
              <a:buFont typeface="Arial" panose="020B0604020202020204" pitchFamily="34" charset="0"/>
              <a:buChar char="•"/>
            </a:pPr>
            <a:r>
              <a:rPr lang="en-IN" dirty="0">
                <a:solidFill>
                  <a:schemeClr val="tx1"/>
                </a:solidFill>
              </a:rPr>
              <a:t>Uses </a:t>
            </a:r>
            <a:r>
              <a:rPr lang="en-IN" b="1" dirty="0">
                <a:solidFill>
                  <a:schemeClr val="tx1"/>
                </a:solidFill>
              </a:rPr>
              <a:t>ByteTrack</a:t>
            </a:r>
            <a:r>
              <a:rPr lang="en-IN" dirty="0">
                <a:solidFill>
                  <a:schemeClr val="tx1"/>
                </a:solidFill>
              </a:rPr>
              <a:t> for continuous object tracking</a:t>
            </a:r>
          </a:p>
          <a:p>
            <a:pPr marL="342900" lvl="0" indent="-342900">
              <a:buFont typeface="Arial" panose="020B0604020202020204" pitchFamily="34" charset="0"/>
              <a:buChar char="•"/>
            </a:pPr>
            <a:r>
              <a:rPr lang="en-IN" dirty="0">
                <a:solidFill>
                  <a:schemeClr val="tx1"/>
                </a:solidFill>
              </a:rPr>
              <a:t>Real-time processing at </a:t>
            </a:r>
            <a:r>
              <a:rPr lang="en-IN" b="1" dirty="0">
                <a:solidFill>
                  <a:schemeClr val="tx1"/>
                </a:solidFill>
              </a:rPr>
              <a:t>19.2–25.4 FPS</a:t>
            </a:r>
          </a:p>
          <a:p>
            <a:pPr marL="342900" lvl="0" indent="-342900">
              <a:buFont typeface="Arial" panose="020B0604020202020204" pitchFamily="34" charset="0"/>
              <a:buChar char="•"/>
            </a:pPr>
            <a:r>
              <a:rPr lang="en-IN" dirty="0">
                <a:solidFill>
                  <a:schemeClr val="tx1"/>
                </a:solidFill>
              </a:rPr>
              <a:t>Provides </a:t>
            </a:r>
            <a:r>
              <a:rPr lang="en-IN" b="1" dirty="0">
                <a:solidFill>
                  <a:schemeClr val="tx1"/>
                </a:solidFill>
              </a:rPr>
              <a:t>risk zones</a:t>
            </a:r>
            <a:r>
              <a:rPr lang="en-IN" dirty="0">
                <a:solidFill>
                  <a:schemeClr val="tx1"/>
                </a:solidFill>
              </a:rPr>
              <a:t> and priority voice alerts</a:t>
            </a: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IN" dirty="0">
                <a:solidFill>
                  <a:schemeClr val="tx1"/>
                </a:solidFill>
              </a:rPr>
              <a:t>No </a:t>
            </a:r>
            <a:r>
              <a:rPr lang="en-IN" b="1" dirty="0">
                <a:solidFill>
                  <a:schemeClr val="tx1"/>
                </a:solidFill>
              </a:rPr>
              <a:t>LiDAR / rangefinder</a:t>
            </a:r>
            <a:r>
              <a:rPr lang="en-IN" dirty="0">
                <a:solidFill>
                  <a:schemeClr val="tx1"/>
                </a:solidFill>
              </a:rPr>
              <a:t> validation of distances</a:t>
            </a:r>
          </a:p>
          <a:p>
            <a:pPr marL="342900" lvl="0" indent="-342900">
              <a:buFont typeface="Arial" panose="020B0604020202020204" pitchFamily="34" charset="0"/>
              <a:buChar char="•"/>
            </a:pPr>
            <a:r>
              <a:rPr lang="en-IN" dirty="0">
                <a:solidFill>
                  <a:schemeClr val="tx1"/>
                </a:solidFill>
              </a:rPr>
              <a:t>Accuracy depends on </a:t>
            </a:r>
            <a:r>
              <a:rPr lang="en-IN" b="1" dirty="0">
                <a:solidFill>
                  <a:schemeClr val="tx1"/>
                </a:solidFill>
              </a:rPr>
              <a:t>camera calibration</a:t>
            </a:r>
            <a:r>
              <a:rPr lang="en-IN" dirty="0">
                <a:solidFill>
                  <a:schemeClr val="tx1"/>
                </a:solidFill>
              </a:rPr>
              <a:t> and scene</a:t>
            </a:r>
          </a:p>
          <a:p>
            <a:pPr marL="342900" lvl="0" indent="-342900">
              <a:buFont typeface="Arial" panose="020B0604020202020204" pitchFamily="34" charset="0"/>
              <a:buChar char="•"/>
            </a:pPr>
            <a:r>
              <a:rPr lang="en-IN" dirty="0">
                <a:solidFill>
                  <a:schemeClr val="tx1"/>
                </a:solidFill>
              </a:rPr>
              <a:t>Tested only on </a:t>
            </a:r>
            <a:r>
              <a:rPr lang="en-IN" b="1" dirty="0">
                <a:solidFill>
                  <a:schemeClr val="tx1"/>
                </a:solidFill>
              </a:rPr>
              <a:t>Andean urban corridors</a:t>
            </a:r>
          </a:p>
          <a:p>
            <a:pPr marL="342900" lvl="0" indent="-342900">
              <a:buFont typeface="Arial" panose="020B0604020202020204" pitchFamily="34" charset="0"/>
              <a:buChar char="•"/>
            </a:pPr>
            <a:r>
              <a:rPr lang="en-IN" dirty="0">
                <a:solidFill>
                  <a:schemeClr val="tx1"/>
                </a:solidFill>
              </a:rPr>
              <a:t>Limited real-world validation across road types</a:t>
            </a:r>
          </a:p>
          <a:p>
            <a:pPr marL="342900" lvl="0" indent="-342900">
              <a:buFont typeface="Arial" panose="020B0604020202020204" pitchFamily="34" charset="0"/>
              <a:buChar char="•"/>
            </a:pPr>
            <a:r>
              <a:rPr lang="en-IN" b="1" dirty="0">
                <a:solidFill>
                  <a:schemeClr val="tx1"/>
                </a:solidFill>
              </a:rPr>
              <a:t>Potholes</a:t>
            </a:r>
            <a:r>
              <a:rPr lang="en-IN" dirty="0">
                <a:solidFill>
                  <a:schemeClr val="tx1"/>
                </a:solidFill>
              </a:rPr>
              <a:t> are not part of the hazard set</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753889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a:t>
            </a:r>
            <a:r>
              <a:rPr lang="en-IN" sz="1400" b="1" dirty="0">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a:t>
            </a:r>
            <a:r>
              <a:rPr lang="en-IN" sz="1400" b="1" dirty="0"/>
              <a:t>QHAWAY: An Instance Segmentation and Monocular Distance Estimation ADAS for Vulnerable Road Users</a:t>
            </a:r>
            <a:br>
              <a:rPr lang="en-US" sz="1400" dirty="0"/>
            </a:br>
            <a:r>
              <a:rPr lang="en-US" sz="1400" i="1" dirty="0"/>
              <a:t>De la Cruz-Moran et al. (2026) | Sensors, 26, 2569 | Published by MDPI</a:t>
            </a:r>
            <a:endParaRPr lang="en-IN" sz="1400" dirty="0"/>
          </a:p>
        </p:txBody>
      </p:sp>
      <p:sp>
        <p:nvSpPr>
          <p:cNvPr id="8" name="TextBox 7">
            <a:extLst>
              <a:ext uri="{FF2B5EF4-FFF2-40B4-BE49-F238E27FC236}">
                <a16:creationId xmlns:a16="http://schemas.microsoft.com/office/drawing/2014/main" id="{E1153805-318B-8A9F-FD71-93C7B1BC50E2}"/>
              </a:ext>
            </a:extLst>
          </p:cNvPr>
          <p:cNvSpPr txBox="1"/>
          <p:nvPr/>
        </p:nvSpPr>
        <p:spPr>
          <a:xfrm>
            <a:off x="498987" y="1660240"/>
            <a:ext cx="9895315" cy="2308324"/>
          </a:xfrm>
          <a:prstGeom prst="rect">
            <a:avLst/>
          </a:prstGeom>
          <a:noFill/>
        </p:spPr>
        <p:txBody>
          <a:bodyPr wrap="square">
            <a:spAutoFit/>
          </a:bodyPr>
          <a:lstStyle/>
          <a:p>
            <a:pPr>
              <a:buNone/>
            </a:pPr>
            <a:r>
              <a:rPr lang="en-IN" b="1" dirty="0"/>
              <a:t>Relevance to My Research</a:t>
            </a:r>
          </a:p>
          <a:p>
            <a:pPr>
              <a:buNone/>
            </a:pPr>
            <a:endParaRPr lang="en-IN" b="1" dirty="0"/>
          </a:p>
          <a:p>
            <a:pPr marL="342900" lvl="0" indent="-342900">
              <a:buFont typeface="Arial" panose="020B0604020202020204" pitchFamily="34" charset="0"/>
              <a:buChar char="•"/>
            </a:pPr>
            <a:r>
              <a:rPr lang="en-IN" dirty="0"/>
              <a:t>Closest work to the </a:t>
            </a:r>
            <a:r>
              <a:rPr lang="en-IN" b="1" dirty="0"/>
              <a:t>RoadSense AI multi-hazard pipeline</a:t>
            </a:r>
          </a:p>
          <a:p>
            <a:pPr marL="342900" lvl="0" indent="-342900">
              <a:buFont typeface="Arial" panose="020B0604020202020204" pitchFamily="34" charset="0"/>
              <a:buChar char="•"/>
            </a:pPr>
            <a:r>
              <a:rPr lang="en-IN" dirty="0"/>
              <a:t>Validates </a:t>
            </a:r>
            <a:r>
              <a:rPr lang="en-IN" b="1" dirty="0"/>
              <a:t>YOLO + ByteTrack + monocular distance estimation</a:t>
            </a:r>
          </a:p>
          <a:p>
            <a:pPr marL="342900" lvl="0" indent="-342900">
              <a:buFont typeface="Arial" panose="020B0604020202020204" pitchFamily="34" charset="0"/>
              <a:buChar char="•"/>
            </a:pPr>
            <a:r>
              <a:rPr lang="en-IN" dirty="0"/>
              <a:t>Provides </a:t>
            </a:r>
            <a:r>
              <a:rPr lang="en-IN" b="1" dirty="0"/>
              <a:t>risk-zone and TTC thresholds</a:t>
            </a:r>
            <a:r>
              <a:rPr lang="en-IN" dirty="0"/>
              <a:t> as a baseline</a:t>
            </a:r>
          </a:p>
          <a:p>
            <a:pPr marL="342900" lvl="0" indent="-342900">
              <a:buFont typeface="Arial" panose="020B0604020202020204" pitchFamily="34" charset="0"/>
              <a:buChar char="•"/>
            </a:pPr>
            <a:r>
              <a:rPr lang="en-IN" dirty="0"/>
              <a:t>Shows alerts must be </a:t>
            </a:r>
            <a:r>
              <a:rPr lang="en-IN" b="1" dirty="0"/>
              <a:t>prioritised</a:t>
            </a:r>
            <a:r>
              <a:rPr lang="en-IN" dirty="0"/>
              <a:t>, not repeated per hazard</a:t>
            </a:r>
          </a:p>
          <a:p>
            <a:pPr marL="342900" lvl="0" indent="-342900">
              <a:buFont typeface="Arial" panose="020B0604020202020204" pitchFamily="34" charset="0"/>
              <a:buChar char="•"/>
            </a:pPr>
            <a:r>
              <a:rPr lang="en-IN" dirty="0"/>
              <a:t>Our work adds </a:t>
            </a:r>
            <a:r>
              <a:rPr lang="en-IN" b="1" dirty="0"/>
              <a:t>driver decision support</a:t>
            </a:r>
            <a:r>
              <a:rPr lang="en-IN" dirty="0"/>
              <a:t> on an interactive dashboard</a:t>
            </a:r>
          </a:p>
        </p:txBody>
      </p:sp>
    </p:spTree>
    <p:extLst>
      <p:ext uri="{BB962C8B-B14F-4D97-AF65-F5344CB8AC3E}">
        <p14:creationId xmlns:p14="http://schemas.microsoft.com/office/powerpoint/2010/main" val="16602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graphicFrame>
        <p:nvGraphicFramePr>
          <p:cNvPr id="7" name="Table 6"/>
          <p:cNvGraphicFramePr>
            <a:graphicFrameLocks noGrp="1"/>
          </p:cNvGraphicFramePr>
          <p:nvPr>
            <p:extLst>
              <p:ext uri="{D42A27DB-BD31-4B8C-83A1-F6EECF244321}">
                <p14:modId xmlns:p14="http://schemas.microsoft.com/office/powerpoint/2010/main" val="3994853877"/>
              </p:ext>
            </p:extLst>
          </p:nvPr>
        </p:nvGraphicFramePr>
        <p:xfrm>
          <a:off x="582592" y="1437294"/>
          <a:ext cx="10887920" cy="3471998"/>
        </p:xfrm>
        <a:graphic>
          <a:graphicData uri="http://schemas.openxmlformats.org/drawingml/2006/table">
            <a:tbl>
              <a:tblPr firstRow="1" bandRow="1">
                <a:tableStyleId>{5940675A-B579-460E-94D1-54222C63F5DA}</a:tableStyleId>
              </a:tblPr>
              <a:tblGrid>
                <a:gridCol w="1859666">
                  <a:extLst>
                    <a:ext uri="{9D8B030D-6E8A-4147-A177-3AD203B41FA5}">
                      <a16:colId xmlns:a16="http://schemas.microsoft.com/office/drawing/2014/main" val="20000"/>
                    </a:ext>
                  </a:extLst>
                </a:gridCol>
                <a:gridCol w="1632031">
                  <a:extLst>
                    <a:ext uri="{9D8B030D-6E8A-4147-A177-3AD203B41FA5}">
                      <a16:colId xmlns:a16="http://schemas.microsoft.com/office/drawing/2014/main" val="20001"/>
                    </a:ext>
                  </a:extLst>
                </a:gridCol>
                <a:gridCol w="3041055">
                  <a:extLst>
                    <a:ext uri="{9D8B030D-6E8A-4147-A177-3AD203B41FA5}">
                      <a16:colId xmlns:a16="http://schemas.microsoft.com/office/drawing/2014/main" val="20002"/>
                    </a:ext>
                  </a:extLst>
                </a:gridCol>
                <a:gridCol w="2177584">
                  <a:extLst>
                    <a:ext uri="{9D8B030D-6E8A-4147-A177-3AD203B41FA5}">
                      <a16:colId xmlns:a16="http://schemas.microsoft.com/office/drawing/2014/main" val="20003"/>
                    </a:ext>
                  </a:extLst>
                </a:gridCol>
                <a:gridCol w="2177584">
                  <a:extLst>
                    <a:ext uri="{9D8B030D-6E8A-4147-A177-3AD203B41FA5}">
                      <a16:colId xmlns:a16="http://schemas.microsoft.com/office/drawing/2014/main" val="20004"/>
                    </a:ext>
                  </a:extLst>
                </a:gridCol>
              </a:tblGrid>
              <a:tr h="728798">
                <a:tc>
                  <a:txBody>
                    <a:bodyPr/>
                    <a:lstStyle/>
                    <a:p>
                      <a:pPr algn="ctr"/>
                      <a:r>
                        <a:rPr lang="en-IN" dirty="0">
                          <a:solidFill>
                            <a:schemeClr val="tx1"/>
                          </a:solidFill>
                          <a:latin typeface="Times New Roman" panose="02020603050405020304" pitchFamily="18" charset="0"/>
                          <a:cs typeface="Times New Roman" panose="02020603050405020304" pitchFamily="18" charset="0"/>
                        </a:rPr>
                        <a:t>Reference</a:t>
                      </a:r>
                    </a:p>
                  </a:txBody>
                  <a:tcPr anchor="ctr">
                    <a:solidFill>
                      <a:schemeClr val="bg1">
                        <a:lumMod val="85000"/>
                      </a:schemeClr>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Year</a:t>
                      </a:r>
                    </a:p>
                  </a:txBody>
                  <a:tcPr anchor="ctr">
                    <a:solidFill>
                      <a:schemeClr val="bg1">
                        <a:lumMod val="85000"/>
                      </a:schemeClr>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Main Idea</a:t>
                      </a:r>
                    </a:p>
                  </a:txBody>
                  <a:tcPr anchor="ctr">
                    <a:solidFill>
                      <a:schemeClr val="bg1">
                        <a:lumMod val="85000"/>
                      </a:schemeClr>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Strengths</a:t>
                      </a:r>
                    </a:p>
                  </a:txBody>
                  <a:tcPr anchor="ctr">
                    <a:solidFill>
                      <a:schemeClr val="bg1">
                        <a:lumMod val="85000"/>
                      </a:schemeClr>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Limitations</a:t>
                      </a:r>
                    </a:p>
                  </a:txBody>
                  <a:tcPr anchor="ctr">
                    <a:solidFill>
                      <a:schemeClr val="bg1">
                        <a:lumMod val="85000"/>
                      </a:schemeClr>
                    </a:solidFill>
                  </a:tcPr>
                </a:tc>
                <a:extLst>
                  <a:ext uri="{0D108BD9-81ED-4DB2-BD59-A6C34878D82A}">
                    <a16:rowId xmlns:a16="http://schemas.microsoft.com/office/drawing/2014/main" val="10000"/>
                  </a:ext>
                </a:extLst>
              </a:tr>
              <a:tr h="728798">
                <a:tc>
                  <a:txBody>
                    <a:bodyPr/>
                    <a:lstStyle/>
                    <a:p>
                      <a:r>
                        <a:rPr lang="en-IN" sz="1200" dirty="0"/>
                        <a:t>Ruseruka et al.</a:t>
                      </a:r>
                    </a:p>
                  </a:txBody>
                  <a:tcPr anchor="ctr"/>
                </a:tc>
                <a:tc>
                  <a:txBody>
                    <a:bodyPr/>
                    <a:lstStyle/>
                    <a:p>
                      <a:r>
                        <a:rPr lang="en-IN" sz="1200" dirty="0"/>
                        <a:t>2024</a:t>
                      </a:r>
                    </a:p>
                  </a:txBody>
                  <a:tcPr anchor="ctr"/>
                </a:tc>
                <a:tc>
                  <a:txBody>
                    <a:bodyPr/>
                    <a:lstStyle/>
                    <a:p>
                      <a:r>
                        <a:rPr lang="en-IN" sz="1200" dirty="0"/>
                        <a:t>YOLOv5 with in-vehicle camera and lane-based scale for pothole sizing</a:t>
                      </a:r>
                    </a:p>
                  </a:txBody>
                  <a:tcPr anchor="ctr"/>
                </a:tc>
                <a:tc>
                  <a:txBody>
                    <a:bodyPr/>
                    <a:lstStyle/>
                    <a:p>
                      <a:r>
                        <a:rPr lang="en-IN" sz="1200" dirty="0"/>
                        <a:t>Detection with dimension estimation and geolocation; 96.3% mAP</a:t>
                      </a:r>
                    </a:p>
                  </a:txBody>
                  <a:tcPr anchor="ctr"/>
                </a:tc>
                <a:tc>
                  <a:txBody>
                    <a:bodyPr/>
                    <a:lstStyle/>
                    <a:p>
                      <a:r>
                        <a:rPr lang="en-IN" sz="1200" dirty="0"/>
                        <a:t>Needs clear lane markings; single hazard type</a:t>
                      </a:r>
                    </a:p>
                  </a:txBody>
                  <a:tcPr anchor="ctr"/>
                </a:tc>
                <a:extLst>
                  <a:ext uri="{0D108BD9-81ED-4DB2-BD59-A6C34878D82A}">
                    <a16:rowId xmlns:a16="http://schemas.microsoft.com/office/drawing/2014/main" val="10001"/>
                  </a:ext>
                </a:extLst>
              </a:tr>
              <a:tr h="728798">
                <a:tc>
                  <a:txBody>
                    <a:bodyPr/>
                    <a:lstStyle/>
                    <a:p>
                      <a:r>
                        <a:rPr lang="en-IN" sz="1200" dirty="0"/>
                        <a:t>Rubin et al.</a:t>
                      </a:r>
                    </a:p>
                  </a:txBody>
                  <a:tcPr anchor="ctr"/>
                </a:tc>
                <a:tc>
                  <a:txBody>
                    <a:bodyPr/>
                    <a:lstStyle/>
                    <a:p>
                      <a:r>
                        <a:rPr lang="en-IN" sz="1200" dirty="0"/>
                        <a:t>2025</a:t>
                      </a:r>
                    </a:p>
                  </a:txBody>
                  <a:tcPr anchor="ctr"/>
                </a:tc>
                <a:tc>
                  <a:txBody>
                    <a:bodyPr/>
                    <a:lstStyle/>
                    <a:p>
                      <a:r>
                        <a:rPr lang="en-IN" sz="1200" dirty="0"/>
                        <a:t>Enhanced YOLO with Xception-CBAM for pothole detection and area estimation</a:t>
                      </a:r>
                    </a:p>
                  </a:txBody>
                  <a:tcPr anchor="ctr"/>
                </a:tc>
                <a:tc>
                  <a:txBody>
                    <a:bodyPr/>
                    <a:lstStyle/>
                    <a:p>
                      <a:r>
                        <a:rPr lang="en-IN" sz="1200" dirty="0"/>
                        <a:t>Highest accuracy (99.21% mAP); attention focuses on pothole regions</a:t>
                      </a:r>
                    </a:p>
                  </a:txBody>
                  <a:tcPr anchor="ctr"/>
                </a:tc>
                <a:tc>
                  <a:txBody>
                    <a:bodyPr/>
                    <a:lstStyle/>
                    <a:p>
                      <a:r>
                        <a:rPr lang="en-IN" sz="1200" dirty="0"/>
                        <a:t>Pothole-only; depth and risk assessment not addressed</a:t>
                      </a:r>
                    </a:p>
                  </a:txBody>
                  <a:tcPr anchor="ctr"/>
                </a:tc>
                <a:extLst>
                  <a:ext uri="{0D108BD9-81ED-4DB2-BD59-A6C34878D82A}">
                    <a16:rowId xmlns:a16="http://schemas.microsoft.com/office/drawing/2014/main" val="10002"/>
                  </a:ext>
                </a:extLst>
              </a:tr>
              <a:tr h="728798">
                <a:tc>
                  <a:txBody>
                    <a:bodyPr/>
                    <a:lstStyle/>
                    <a:p>
                      <a:r>
                        <a:rPr lang="en-IN" sz="1200" dirty="0"/>
                        <a:t>De la Cruz-Moran et al.</a:t>
                      </a:r>
                    </a:p>
                  </a:txBody>
                  <a:tcPr anchor="ctr"/>
                </a:tc>
                <a:tc>
                  <a:txBody>
                    <a:bodyPr/>
                    <a:lstStyle/>
                    <a:p>
                      <a:r>
                        <a:rPr lang="en-IN" sz="1200" dirty="0"/>
                        <a:t>2026</a:t>
                      </a:r>
                    </a:p>
                  </a:txBody>
                  <a:tcPr anchor="ctr"/>
                </a:tc>
                <a:tc>
                  <a:txBody>
                    <a:bodyPr/>
                    <a:lstStyle/>
                    <a:p>
                      <a:r>
                        <a:rPr lang="en-IN" sz="1200" dirty="0"/>
                        <a:t>Instance segmentation + ByteTrack + monocular distance and TTC for ADAS</a:t>
                      </a:r>
                    </a:p>
                  </a:txBody>
                  <a:tcPr anchor="ctr"/>
                </a:tc>
                <a:tc>
                  <a:txBody>
                    <a:bodyPr/>
                    <a:lstStyle/>
                    <a:p>
                      <a:r>
                        <a:rPr lang="en-IN" sz="1200" dirty="0"/>
                        <a:t>Multi-hazard detection, tracking, risk zones and alerts; 19.2–25.4 FPS</a:t>
                      </a:r>
                    </a:p>
                  </a:txBody>
                  <a:tcPr anchor="ctr"/>
                </a:tc>
                <a:tc>
                  <a:txBody>
                    <a:bodyPr/>
                    <a:lstStyle/>
                    <a:p>
                      <a:r>
                        <a:rPr lang="en-IN" sz="1200" dirty="0"/>
                        <a:t>No LiDAR validation of distance; potholes not covered</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8585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Guide: </a:t>
            </a:r>
            <a:r>
              <a:rPr kumimoji="0" lang="en-IN"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 A. Janardhana</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Batch ID: B-09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23BQ1A6199 (TL), 23BQ1A6198,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23BQ1A6178, 23BQ1A61A3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RoadSense AI: Vision-Based Multi-Hazard </a:t>
            </a:r>
          </a:p>
          <a:p>
            <a:r>
              <a:rPr lang="en-IN" dirty="0">
                <a:latin typeface="Times New Roman" panose="02020603050405020304" pitchFamily="18" charset="0"/>
                <a:cs typeface="Times New Roman" panose="02020603050405020304" pitchFamily="18" charset="0"/>
              </a:rPr>
              <a:t>Risk Assessment</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1374</TotalTime>
  <Words>2685</Words>
  <Application>Microsoft Office PowerPoint</Application>
  <PresentationFormat>Widescreen</PresentationFormat>
  <Paragraphs>415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Meghana Kathari</cp:lastModifiedBy>
  <cp:revision>49</cp:revision>
  <dcterms:created xsi:type="dcterms:W3CDTF">2023-07-18T12:47:32Z</dcterms:created>
  <dcterms:modified xsi:type="dcterms:W3CDTF">2026-09-17T11:13:53Z</dcterms:modified>
</cp:coreProperties>
</file>